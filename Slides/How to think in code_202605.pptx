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3"/>
  </p:notesMasterIdLst>
  <p:sldIdLst>
    <p:sldId id="316" r:id="rId2"/>
    <p:sldId id="321" r:id="rId3"/>
    <p:sldId id="338" r:id="rId4"/>
    <p:sldId id="322" r:id="rId5"/>
    <p:sldId id="323" r:id="rId6"/>
    <p:sldId id="328" r:id="rId7"/>
    <p:sldId id="363" r:id="rId8"/>
    <p:sldId id="364" r:id="rId9"/>
    <p:sldId id="329" r:id="rId10"/>
    <p:sldId id="405" r:id="rId11"/>
    <p:sldId id="330" r:id="rId12"/>
    <p:sldId id="356" r:id="rId13"/>
    <p:sldId id="332" r:id="rId14"/>
    <p:sldId id="331" r:id="rId15"/>
    <p:sldId id="345" r:id="rId16"/>
    <p:sldId id="361" r:id="rId17"/>
    <p:sldId id="327" r:id="rId18"/>
    <p:sldId id="406" r:id="rId19"/>
    <p:sldId id="420" r:id="rId20"/>
    <p:sldId id="419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436" r:id="rId31"/>
    <p:sldId id="342" r:id="rId32"/>
    <p:sldId id="348" r:id="rId33"/>
    <p:sldId id="416" r:id="rId34"/>
    <p:sldId id="418" r:id="rId35"/>
    <p:sldId id="421" r:id="rId36"/>
    <p:sldId id="422" r:id="rId37"/>
    <p:sldId id="368" r:id="rId38"/>
    <p:sldId id="339" r:id="rId39"/>
    <p:sldId id="423" r:id="rId40"/>
    <p:sldId id="352" r:id="rId41"/>
    <p:sldId id="424" r:id="rId42"/>
    <p:sldId id="357" r:id="rId43"/>
    <p:sldId id="358" r:id="rId44"/>
    <p:sldId id="425" r:id="rId45"/>
    <p:sldId id="426" r:id="rId46"/>
    <p:sldId id="359" r:id="rId47"/>
    <p:sldId id="341" r:id="rId48"/>
    <p:sldId id="369" r:id="rId49"/>
    <p:sldId id="370" r:id="rId50"/>
    <p:sldId id="375" r:id="rId51"/>
    <p:sldId id="376" r:id="rId52"/>
    <p:sldId id="377" r:id="rId53"/>
    <p:sldId id="371" r:id="rId54"/>
    <p:sldId id="372" r:id="rId55"/>
    <p:sldId id="373" r:id="rId56"/>
    <p:sldId id="374" r:id="rId57"/>
    <p:sldId id="378" r:id="rId58"/>
    <p:sldId id="382" r:id="rId59"/>
    <p:sldId id="379" r:id="rId60"/>
    <p:sldId id="381" r:id="rId61"/>
    <p:sldId id="380" r:id="rId62"/>
    <p:sldId id="383" r:id="rId63"/>
    <p:sldId id="384" r:id="rId64"/>
    <p:sldId id="389" r:id="rId65"/>
    <p:sldId id="390" r:id="rId66"/>
    <p:sldId id="427" r:id="rId67"/>
    <p:sldId id="428" r:id="rId68"/>
    <p:sldId id="441" r:id="rId69"/>
    <p:sldId id="398" r:id="rId70"/>
    <p:sldId id="400" r:id="rId71"/>
    <p:sldId id="401" r:id="rId72"/>
    <p:sldId id="402" r:id="rId73"/>
    <p:sldId id="403" r:id="rId74"/>
    <p:sldId id="429" r:id="rId75"/>
    <p:sldId id="392" r:id="rId76"/>
    <p:sldId id="432" r:id="rId77"/>
    <p:sldId id="393" r:id="rId78"/>
    <p:sldId id="350" r:id="rId79"/>
    <p:sldId id="385" r:id="rId80"/>
    <p:sldId id="386" r:id="rId81"/>
    <p:sldId id="433" r:id="rId82"/>
    <p:sldId id="387" r:id="rId83"/>
    <p:sldId id="434" r:id="rId84"/>
    <p:sldId id="388" r:id="rId85"/>
    <p:sldId id="435" r:id="rId86"/>
    <p:sldId id="391" r:id="rId87"/>
    <p:sldId id="394" r:id="rId88"/>
    <p:sldId id="395" r:id="rId89"/>
    <p:sldId id="396" r:id="rId90"/>
    <p:sldId id="353" r:id="rId91"/>
    <p:sldId id="442" r:id="rId92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  <a:srgbClr val="13A89E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56"/>
    <p:restoredTop sz="75915" autoAdjust="0"/>
  </p:normalViewPr>
  <p:slideViewPr>
    <p:cSldViewPr snapToGrid="0">
      <p:cViewPr varScale="1">
        <p:scale>
          <a:sx n="92" d="100"/>
          <a:sy n="92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24/05/2026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986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744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594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548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875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779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752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826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849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2E14-65EF-9748-1057-D216605C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5EB59-F80B-8098-3264-F02E1EF2A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A13BD-D1B6-B1D6-EA06-A8CD5169F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40547-8776-971C-75CC-CA288B3A1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471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257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DED7-F403-5E7B-9905-4902D99C7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41706-6C13-54C0-6B6A-559F63EEE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751EA-8F86-6A38-3B0A-73AF75467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C3E37-B17A-B2DD-94B9-A918A6F9D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80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805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215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07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>
                <a:latin typeface="+mj-lt"/>
              </a:rPr>
              <a:t>Mission</a:t>
            </a:r>
            <a:r>
              <a:rPr lang="en-CA" sz="2002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r>
              <a:rPr lang="en-CA" sz="1800">
                <a:latin typeface="+mj-lt"/>
              </a:rPr>
              <a:t>https://www.mcgill.ca/</a:t>
            </a:r>
            <a:r>
              <a:rPr lang="en-CA" sz="1800" err="1">
                <a:latin typeface="+mj-lt"/>
              </a:rPr>
              <a:t>micm</a:t>
            </a:r>
            <a:endParaRPr lang="en-CA" sz="1800">
              <a:latin typeface="+mj-lt"/>
            </a:endParaRPr>
          </a:p>
          <a:p>
            <a:endParaRPr lang="en-CA" sz="2002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-ide.com/online_python_id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9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dehs.com/ide" TargetMode="Externa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572485"/>
            <a:ext cx="5172904" cy="1703583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>
                <a:latin typeface="Helvetica" pitchFamily="2" charset="0"/>
              </a:rPr>
              <a:t>How to Think in Code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E6C04-4051-B883-0FFD-0C104B795BCE}"/>
              </a:ext>
            </a:extLst>
          </p:cNvPr>
          <p:cNvSpPr txBox="1"/>
          <p:nvPr/>
        </p:nvSpPr>
        <p:spPr>
          <a:xfrm>
            <a:off x="165136" y="5830349"/>
            <a:ext cx="39730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dirty="0">
                <a:latin typeface="Helvetica Light" panose="020B0403020202020204" pitchFamily="34" charset="0"/>
              </a:rPr>
              <a:t>Workshop Lead: Thomas Zheng</a:t>
            </a:r>
            <a:endParaRPr lang="en-CA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7BC4C-E4DD-4EF8-4690-732D69EB13AE}"/>
              </a:ext>
            </a:extLst>
          </p:cNvPr>
          <p:cNvSpPr txBox="1"/>
          <p:nvPr/>
        </p:nvSpPr>
        <p:spPr>
          <a:xfrm>
            <a:off x="165136" y="6199681"/>
            <a:ext cx="318370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dirty="0">
                <a:latin typeface="Helvetica Light" panose="020B0403020202020204" pitchFamily="34" charset="0"/>
              </a:rPr>
              <a:t>Date: May 26</a:t>
            </a:r>
            <a:r>
              <a:rPr lang="en-CA" sz="1800" baseline="30000" dirty="0">
                <a:latin typeface="Helvetica Light" panose="020B0403020202020204" pitchFamily="34" charset="0"/>
              </a:rPr>
              <a:t>th</a:t>
            </a:r>
            <a:r>
              <a:rPr lang="en-CA" sz="1800" dirty="0">
                <a:latin typeface="Helvetica Light" panose="020B0403020202020204" pitchFamily="34" charset="0"/>
              </a:rPr>
              <a:t>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5865C-854D-B61F-896F-BBBEE2130F44}"/>
              </a:ext>
            </a:extLst>
          </p:cNvPr>
          <p:cNvSpPr txBox="1"/>
          <p:nvPr/>
        </p:nvSpPr>
        <p:spPr>
          <a:xfrm>
            <a:off x="165136" y="6550223"/>
            <a:ext cx="4977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Material adapted from: Larisa Morales Soto and Maria Hadid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6B70BB52-45FC-DC1F-F8E3-337553F7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city&#10;&#10;Description automatically generated">
            <a:extLst>
              <a:ext uri="{FF2B5EF4-FFF2-40B4-BE49-F238E27FC236}">
                <a16:creationId xmlns:a16="http://schemas.microsoft.com/office/drawing/2014/main" id="{D0078521-6D64-1BCE-B884-04EC922C67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4815"/>
          <a:stretch/>
        </p:blipFill>
        <p:spPr>
          <a:xfrm>
            <a:off x="860093" y="2584447"/>
            <a:ext cx="2765329" cy="2517036"/>
          </a:xfrm>
          <a:prstGeom prst="ellipse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740 Dr. Penfield Avenue,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 dirty="0">
                <a:latin typeface="Helvetica" pitchFamily="2" charset="0"/>
              </a:rPr>
              <a:t>Mission statement:</a:t>
            </a:r>
            <a:r>
              <a:rPr lang="en-CA" sz="1800" dirty="0">
                <a:latin typeface="Helvetica" pitchFamily="2" charset="0"/>
              </a:rPr>
              <a:t> d</a:t>
            </a:r>
            <a:r>
              <a:rPr lang="en-CA" sz="1800" b="0" i="0" dirty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 dirty="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>
            <a:extLst>
              <a:ext uri="{FF2B5EF4-FFF2-40B4-BE49-F238E27FC236}">
                <a16:creationId xmlns:a16="http://schemas.microsoft.com/office/drawing/2014/main" id="{333BAB40-358F-BE60-7494-578A1971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/>
              <a:t>Scan the QR code to sign up </a:t>
            </a:r>
          </a:p>
          <a:p>
            <a:pPr algn="ctr"/>
            <a:r>
              <a:rPr lang="en-CA" sz="1800" dirty="0"/>
              <a:t>for our </a:t>
            </a:r>
            <a:r>
              <a:rPr lang="en-CA" sz="1800" b="1" dirty="0"/>
              <a:t>mailing list</a:t>
            </a:r>
            <a:endParaRPr lang="en-CA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2574183" y="6243368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/>
              <a:t>Contact: </a:t>
            </a:r>
            <a:r>
              <a:rPr lang="en-CA" sz="1800" dirty="0">
                <a:hlinkClick r:id="rId5"/>
              </a:rPr>
              <a:t>workshop-micm@mcgill.ca</a:t>
            </a:r>
            <a:r>
              <a:rPr lang="en-CA" sz="1800" dirty="0"/>
              <a:t> 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B33E534D-926F-1139-A9DD-726795B17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387751" y="6058574"/>
            <a:ext cx="6368498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A0F7237-24AA-93C6-FC22-7A41C493E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3" name="Picture 2" descr="A screenshot of a calendar&#10;&#10;AI-generated content may be incorrect.">
            <a:extLst>
              <a:ext uri="{FF2B5EF4-FFF2-40B4-BE49-F238E27FC236}">
                <a16:creationId xmlns:a16="http://schemas.microsoft.com/office/drawing/2014/main" id="{2B92A9C5-81C3-5587-4418-C45DBF410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32887"/>
            <a:ext cx="9138095" cy="366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513C-EE58-4A62-061F-CCAEFDE8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to expect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D9978-01F9-BFE8-0748-5A4142BC3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8058150" cy="4351335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Practice structured thinking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Become familiar with programming logic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Learn about basic programming components </a:t>
            </a:r>
            <a:b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</a:b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(variables, algorithms, data structures) 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latin typeface="Helvetica" pitchFamily="2" charset="0"/>
                <a:ea typeface="Calibri" panose="020F0502020204030204" pitchFamily="34" charset="0"/>
              </a:rPr>
              <a:t>Learn control structures </a:t>
            </a:r>
            <a:br>
              <a:rPr lang="en-CA" sz="1800" dirty="0">
                <a:latin typeface="Helvetica" pitchFamily="2" charset="0"/>
                <a:ea typeface="Calibri" panose="020F0502020204030204" pitchFamily="34" charset="0"/>
              </a:rPr>
            </a:br>
            <a:r>
              <a:rPr lang="en-CA" sz="1800" dirty="0">
                <a:latin typeface="Helvetica" pitchFamily="2" charset="0"/>
                <a:ea typeface="Calibri" panose="020F0502020204030204" pitchFamily="34" charset="0"/>
              </a:rPr>
              <a:t>(loops, conditional statements, and more)</a:t>
            </a:r>
            <a:endParaRPr lang="en-CA" sz="1800" dirty="0">
              <a:effectLst/>
              <a:latin typeface="Helvetica" pitchFamily="2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We will NOT: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Perform data analysis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Learn about machine learning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Write programs that generate visualizations 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3D5C2C-804D-65EF-5E52-AA4645BD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5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20EA-0525-D7AB-0E4C-C936947E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F61DB-A7F6-9125-62A6-1FE1AF3D6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6991350" cy="435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1 – Overview of computers and programs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What is a computer?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What is a computer program?</a:t>
            </a:r>
          </a:p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2 – Coding fundamentals and hands-on testing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Basic variables and data types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Boolean logic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Conditional statements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For and While loops</a:t>
            </a: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3 – Functions and Data Structures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Functions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Data Structures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Indexing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314B4904-D1E2-CE72-32D1-6AA02DD0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6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D4F3-DAAC-FAFF-2C91-9E917E72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1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What is a computer and what are programs?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4B39E1A4-B048-6D27-2F2B-5DEE1802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12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874C-27FD-0636-DA2A-5EFB1A89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computer? </a:t>
            </a:r>
          </a:p>
        </p:txBody>
      </p:sp>
      <p:pic>
        <p:nvPicPr>
          <p:cNvPr id="1026" name="Picture 2" descr="Block Diagram of a Computer">
            <a:extLst>
              <a:ext uri="{FF2B5EF4-FFF2-40B4-BE49-F238E27FC236}">
                <a16:creationId xmlns:a16="http://schemas.microsoft.com/office/drawing/2014/main" id="{F6677659-0E19-DA84-300C-0AB12D28D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22" y="1528632"/>
            <a:ext cx="7487728" cy="479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FDABCE-ABBC-AC3D-33C7-403019A6641B}"/>
              </a:ext>
            </a:extLst>
          </p:cNvPr>
          <p:cNvSpPr/>
          <p:nvPr/>
        </p:nvSpPr>
        <p:spPr>
          <a:xfrm>
            <a:off x="628650" y="1345721"/>
            <a:ext cx="3063456" cy="9316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B37A963-8A38-73C7-6A8A-42BEFF937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4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EEE63-1202-FD90-0B48-36D38FE2F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18" y="2141542"/>
            <a:ext cx="3540282" cy="4351335"/>
          </a:xfrm>
        </p:spPr>
        <p:txBody>
          <a:bodyPr/>
          <a:lstStyle/>
          <a:p>
            <a:r>
              <a:rPr lang="en-CA" dirty="0"/>
              <a:t>Storage – Hard Drive</a:t>
            </a:r>
          </a:p>
          <a:p>
            <a:r>
              <a:rPr lang="en-CA" dirty="0"/>
              <a:t>RAM – Random Access Memory</a:t>
            </a:r>
          </a:p>
          <a:p>
            <a:r>
              <a:rPr lang="en-CA" dirty="0"/>
              <a:t>CPU – Central Processing Unit</a:t>
            </a:r>
          </a:p>
          <a:p>
            <a:r>
              <a:rPr lang="en-CA" dirty="0"/>
              <a:t>I/O – Input and Output Devices</a:t>
            </a:r>
          </a:p>
        </p:txBody>
      </p:sp>
      <p:pic>
        <p:nvPicPr>
          <p:cNvPr id="2050" name="Picture 2" descr="5 Parts of a Computer | Different Main &amp; Basic Components ...">
            <a:extLst>
              <a:ext uri="{FF2B5EF4-FFF2-40B4-BE49-F238E27FC236}">
                <a16:creationId xmlns:a16="http://schemas.microsoft.com/office/drawing/2014/main" id="{B0FE4038-6766-6225-0AD4-5295A96AB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156603"/>
            <a:ext cx="5603719" cy="350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D2885DC-CC7D-BAF8-7C63-AE4A36942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24320B-B009-9618-039E-5E8ABB36C998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614204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Top things a computer needs</a:t>
            </a:r>
          </a:p>
        </p:txBody>
      </p:sp>
    </p:spTree>
    <p:extLst>
      <p:ext uri="{BB962C8B-B14F-4D97-AF65-F5344CB8AC3E}">
        <p14:creationId xmlns:p14="http://schemas.microsoft.com/office/powerpoint/2010/main" val="151682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874C-27FD-0636-DA2A-5EFB1A89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 program? </a:t>
            </a:r>
          </a:p>
        </p:txBody>
      </p:sp>
      <p:pic>
        <p:nvPicPr>
          <p:cNvPr id="7" name="Picture 6" descr="A computer screen with a red arrow pointing to a window&#10;&#10;Description automatically generated">
            <a:extLst>
              <a:ext uri="{FF2B5EF4-FFF2-40B4-BE49-F238E27FC236}">
                <a16:creationId xmlns:a16="http://schemas.microsoft.com/office/drawing/2014/main" id="{880A8962-4A98-054D-22CE-5E5122D1C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405" y="2337275"/>
            <a:ext cx="2995075" cy="2995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AD4D88-C002-258B-4581-D03B24A93ABA}"/>
              </a:ext>
            </a:extLst>
          </p:cNvPr>
          <p:cNvSpPr txBox="1"/>
          <p:nvPr/>
        </p:nvSpPr>
        <p:spPr>
          <a:xfrm>
            <a:off x="767405" y="1690688"/>
            <a:ext cx="1890261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Source code</a:t>
            </a:r>
          </a:p>
          <a:p>
            <a:r>
              <a:rPr lang="en-US" dirty="0">
                <a:latin typeface="Helvetica" pitchFamily="2" charset="0"/>
              </a:rPr>
              <a:t>Human readable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4D6E2-E53E-7DD0-FADF-ADBFACA7DEB9}"/>
              </a:ext>
            </a:extLst>
          </p:cNvPr>
          <p:cNvSpPr txBox="1"/>
          <p:nvPr/>
        </p:nvSpPr>
        <p:spPr>
          <a:xfrm>
            <a:off x="1474673" y="5286714"/>
            <a:ext cx="2287807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Executable</a:t>
            </a:r>
          </a:p>
          <a:p>
            <a:pPr algn="r"/>
            <a:r>
              <a:rPr lang="en-US" dirty="0">
                <a:latin typeface="Helvetica" pitchFamily="2" charset="0"/>
              </a:rPr>
              <a:t>Machine instructions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A60F0EB-8DCE-C204-7E49-B19236E4A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AA297B-2573-F294-9E7A-7F5B3D642086}"/>
              </a:ext>
            </a:extLst>
          </p:cNvPr>
          <p:cNvSpPr txBox="1">
            <a:spLocks/>
          </p:cNvSpPr>
          <p:nvPr/>
        </p:nvSpPr>
        <p:spPr>
          <a:xfrm>
            <a:off x="4291202" y="2337275"/>
            <a:ext cx="4224148" cy="24499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Sequence of instructions </a:t>
            </a:r>
            <a:r>
              <a:rPr lang="en-US" sz="2000" dirty="0">
                <a:latin typeface="Helvetica Light" panose="020B0403020202020204" pitchFamily="34" charset="0"/>
              </a:rPr>
              <a:t>for the computer to execute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Translation of our thoughts into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operations</a:t>
            </a:r>
            <a:r>
              <a:rPr lang="en-US" sz="2000" dirty="0">
                <a:latin typeface="Helvetica Light" panose="020B0403020202020204" pitchFamily="34" charset="0"/>
              </a:rPr>
              <a:t> that the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computer understands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This used to be a laborious process, but now we have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languages </a:t>
            </a:r>
            <a:r>
              <a:rPr lang="en-US" sz="2000" dirty="0">
                <a:latin typeface="Helvetica Light" panose="020B0403020202020204" pitchFamily="34" charset="0"/>
              </a:rPr>
              <a:t>that help us!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EA2A7A-B481-4240-449A-731EEE532823}"/>
              </a:ext>
            </a:extLst>
          </p:cNvPr>
          <p:cNvSpPr/>
          <p:nvPr/>
        </p:nvSpPr>
        <p:spPr>
          <a:xfrm>
            <a:off x="4130936" y="3775934"/>
            <a:ext cx="4023360" cy="1129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90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6083-7617-FB5C-C02D-D6670680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7BD4-C749-E502-F938-7A0C20DB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 program?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89F0-CFA2-2E6B-851C-9B79878B4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1202" y="2337275"/>
            <a:ext cx="4224148" cy="2449940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Sequence of instructions </a:t>
            </a:r>
            <a:r>
              <a:rPr lang="en-US" sz="2000" dirty="0">
                <a:latin typeface="Helvetica Light" panose="020B0403020202020204" pitchFamily="34" charset="0"/>
              </a:rPr>
              <a:t>for the computer to execute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Translation of our thoughts into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operations</a:t>
            </a:r>
            <a:r>
              <a:rPr lang="en-US" sz="2000" dirty="0">
                <a:latin typeface="Helvetica Light" panose="020B0403020202020204" pitchFamily="34" charset="0"/>
              </a:rPr>
              <a:t> that the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computer understands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This used to be a laborious process, but now we have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languages </a:t>
            </a:r>
            <a:r>
              <a:rPr lang="en-US" sz="2000" dirty="0">
                <a:latin typeface="Helvetica Light" panose="020B0403020202020204" pitchFamily="34" charset="0"/>
              </a:rPr>
              <a:t>that help us!</a:t>
            </a:r>
          </a:p>
        </p:txBody>
      </p:sp>
      <p:pic>
        <p:nvPicPr>
          <p:cNvPr id="7" name="Picture 6" descr="A computer screen with a red arrow pointing to a window&#10;&#10;Description automatically generated">
            <a:extLst>
              <a:ext uri="{FF2B5EF4-FFF2-40B4-BE49-F238E27FC236}">
                <a16:creationId xmlns:a16="http://schemas.microsoft.com/office/drawing/2014/main" id="{80367E7D-DFEB-55CA-0505-AF23BF401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405" y="2337275"/>
            <a:ext cx="2995075" cy="2995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EFBC93-3A4E-8FD9-381A-3C5A11BB0647}"/>
              </a:ext>
            </a:extLst>
          </p:cNvPr>
          <p:cNvSpPr txBox="1"/>
          <p:nvPr/>
        </p:nvSpPr>
        <p:spPr>
          <a:xfrm>
            <a:off x="767405" y="1690688"/>
            <a:ext cx="1890261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Source code</a:t>
            </a:r>
          </a:p>
          <a:p>
            <a:r>
              <a:rPr lang="en-US" dirty="0">
                <a:latin typeface="Helvetica" pitchFamily="2" charset="0"/>
              </a:rPr>
              <a:t>Human readable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57B56-A64F-1C3F-97BE-98A1CB643766}"/>
              </a:ext>
            </a:extLst>
          </p:cNvPr>
          <p:cNvSpPr txBox="1"/>
          <p:nvPr/>
        </p:nvSpPr>
        <p:spPr>
          <a:xfrm>
            <a:off x="1474673" y="5286714"/>
            <a:ext cx="2287807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Executable</a:t>
            </a:r>
          </a:p>
          <a:p>
            <a:pPr algn="r"/>
            <a:r>
              <a:rPr lang="en-US" dirty="0">
                <a:latin typeface="Helvetica" pitchFamily="2" charset="0"/>
              </a:rPr>
              <a:t>Machine instructions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2D41EA79-25E1-9B63-C71F-E5EDAA6FB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3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A527-31F3-6F07-990C-95AA93DC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Sequence of instructions</a:t>
            </a:r>
          </a:p>
        </p:txBody>
      </p:sp>
      <p:pic>
        <p:nvPicPr>
          <p:cNvPr id="9" name="Picture 8" descr="A diagram of instructions for a furniture assembly&#10;&#10;Description automatically generated with medium confidence">
            <a:extLst>
              <a:ext uri="{FF2B5EF4-FFF2-40B4-BE49-F238E27FC236}">
                <a16:creationId xmlns:a16="http://schemas.microsoft.com/office/drawing/2014/main" id="{F38E09C1-8CCC-8039-73FE-E0B2D490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7" y="1894195"/>
            <a:ext cx="3440219" cy="3693761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0CF50DD-DCC7-9639-71EC-C5158BECD179}"/>
              </a:ext>
            </a:extLst>
          </p:cNvPr>
          <p:cNvSpPr/>
          <p:nvPr/>
        </p:nvSpPr>
        <p:spPr>
          <a:xfrm>
            <a:off x="4413577" y="2946177"/>
            <a:ext cx="704932" cy="308502"/>
          </a:xfrm>
          <a:prstGeom prst="rightArrow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69B0A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7897A-FFD5-5755-9918-62BAF6B2499B}"/>
              </a:ext>
            </a:extLst>
          </p:cNvPr>
          <p:cNvSpPr txBox="1"/>
          <p:nvPr/>
        </p:nvSpPr>
        <p:spPr>
          <a:xfrm>
            <a:off x="5541781" y="4510168"/>
            <a:ext cx="2416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Clear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Concise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Efficient</a:t>
            </a:r>
          </a:p>
        </p:txBody>
      </p:sp>
      <p:pic>
        <p:nvPicPr>
          <p:cNvPr id="15" name="Picture 14" descr="A bunk bed with blue pillows&#10;&#10;Description automatically generated">
            <a:extLst>
              <a:ext uri="{FF2B5EF4-FFF2-40B4-BE49-F238E27FC236}">
                <a16:creationId xmlns:a16="http://schemas.microsoft.com/office/drawing/2014/main" id="{6E2EE2A5-7C85-E80D-2CF0-408ED854B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1781" y="1894195"/>
            <a:ext cx="2063040" cy="2063040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E19DCDE-3D2E-F777-8C96-85EAA43FB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3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A527-31F3-6F07-990C-95AA93DC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Sequence of instructions</a:t>
            </a:r>
          </a:p>
        </p:txBody>
      </p:sp>
      <p:pic>
        <p:nvPicPr>
          <p:cNvPr id="9" name="Picture 8" descr="A diagram of instructions for a furniture assembly&#10;&#10;Description automatically generated with medium confidence">
            <a:extLst>
              <a:ext uri="{FF2B5EF4-FFF2-40B4-BE49-F238E27FC236}">
                <a16:creationId xmlns:a16="http://schemas.microsoft.com/office/drawing/2014/main" id="{F38E09C1-8CCC-8039-73FE-E0B2D490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7" y="1894195"/>
            <a:ext cx="3440219" cy="3693761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0CF50DD-DCC7-9639-71EC-C5158BECD179}"/>
              </a:ext>
            </a:extLst>
          </p:cNvPr>
          <p:cNvSpPr/>
          <p:nvPr/>
        </p:nvSpPr>
        <p:spPr>
          <a:xfrm>
            <a:off x="4413577" y="2946177"/>
            <a:ext cx="704932" cy="308502"/>
          </a:xfrm>
          <a:prstGeom prst="rightArrow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69B0A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7897A-FFD5-5755-9918-62BAF6B2499B}"/>
              </a:ext>
            </a:extLst>
          </p:cNvPr>
          <p:cNvSpPr txBox="1"/>
          <p:nvPr/>
        </p:nvSpPr>
        <p:spPr>
          <a:xfrm>
            <a:off x="5541781" y="4510168"/>
            <a:ext cx="2416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Clear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Concise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Efficient</a:t>
            </a:r>
          </a:p>
        </p:txBody>
      </p:sp>
      <p:pic>
        <p:nvPicPr>
          <p:cNvPr id="15" name="Picture 14" descr="A bunk bed with blue pillows&#10;&#10;Description automatically generated">
            <a:extLst>
              <a:ext uri="{FF2B5EF4-FFF2-40B4-BE49-F238E27FC236}">
                <a16:creationId xmlns:a16="http://schemas.microsoft.com/office/drawing/2014/main" id="{6E2EE2A5-7C85-E80D-2CF0-408ED854B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1781" y="1894195"/>
            <a:ext cx="2063040" cy="206304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1DC077-710D-DE38-81A1-0825F9578B39}"/>
              </a:ext>
            </a:extLst>
          </p:cNvPr>
          <p:cNvSpPr/>
          <p:nvPr/>
        </p:nvSpPr>
        <p:spPr>
          <a:xfrm>
            <a:off x="269913" y="2086457"/>
            <a:ext cx="8604173" cy="2423711"/>
          </a:xfrm>
          <a:prstGeom prst="roundRect">
            <a:avLst>
              <a:gd name="adj" fmla="val 353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Helvetica" pitchFamily="2" charset="0"/>
              </a:rPr>
              <a:t>Computers can’t read your minds!</a:t>
            </a:r>
          </a:p>
          <a:p>
            <a:pPr algn="ctr"/>
            <a:r>
              <a:rPr lang="en-US" sz="3200" dirty="0">
                <a:latin typeface="Helvetica" pitchFamily="2" charset="0"/>
              </a:rPr>
              <a:t>(yet)</a:t>
            </a:r>
            <a:endParaRPr lang="en-US" sz="4000" dirty="0">
              <a:latin typeface="Helvetica" pitchFamily="2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A40A044A-74F4-F4B9-1B30-873A8FD6D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08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EE4D0-BF8B-B017-2DF5-8EA57D16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4375-5711-A4E0-4D14-B9FA9329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Pseudo-code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6F76E-FDC8-4B84-53A8-F7D242B7FA62}"/>
              </a:ext>
            </a:extLst>
          </p:cNvPr>
          <p:cNvSpPr txBox="1"/>
          <p:nvPr/>
        </p:nvSpPr>
        <p:spPr>
          <a:xfrm>
            <a:off x="628649" y="1857230"/>
            <a:ext cx="7958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A high-level summary of a sequence of instructions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846A91-21EA-2041-DADB-2B5DD47103EA}"/>
              </a:ext>
            </a:extLst>
          </p:cNvPr>
          <p:cNvSpPr/>
          <p:nvPr/>
        </p:nvSpPr>
        <p:spPr>
          <a:xfrm>
            <a:off x="3530849" y="2842788"/>
            <a:ext cx="2308636" cy="635487"/>
          </a:xfrm>
          <a:prstGeom prst="round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 twin bed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C96F48-1718-BF7F-1E73-BAA382881D82}"/>
              </a:ext>
            </a:extLst>
          </p:cNvPr>
          <p:cNvSpPr/>
          <p:nvPr/>
        </p:nvSpPr>
        <p:spPr>
          <a:xfrm>
            <a:off x="3530850" y="3610588"/>
            <a:ext cx="2308635" cy="63548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2E225-348B-6B3E-F371-6EF6FC084BBC}"/>
              </a:ext>
            </a:extLst>
          </p:cNvPr>
          <p:cNvSpPr txBox="1"/>
          <p:nvPr/>
        </p:nvSpPr>
        <p:spPr>
          <a:xfrm>
            <a:off x="613087" y="4905426"/>
            <a:ext cx="607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Useful to visualize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order of steps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Serves as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backbone</a:t>
            </a:r>
            <a:r>
              <a:rPr lang="en-US" sz="2000" dirty="0">
                <a:latin typeface="Helvetica Light" panose="020B0403020202020204" pitchFamily="34" charset="0"/>
              </a:rPr>
              <a:t> of the code 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FACAA617-D9DD-9A35-A0B7-6E40557B1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95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0077-F377-44D5-217A-CD203571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B2247-01C0-0D4B-D341-AEAF03C9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Repeating instructions</a:t>
            </a:r>
          </a:p>
        </p:txBody>
      </p:sp>
      <p:pic>
        <p:nvPicPr>
          <p:cNvPr id="3" name="Picture 2" descr="A bunk bed with blue pillows&#10;&#10;Description automatically generated">
            <a:extLst>
              <a:ext uri="{FF2B5EF4-FFF2-40B4-BE49-F238E27FC236}">
                <a16:creationId xmlns:a16="http://schemas.microsoft.com/office/drawing/2014/main" id="{32B651D8-A1BB-FDC4-C3DF-5B968AB23D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52963"/>
          <a:stretch/>
        </p:blipFill>
        <p:spPr>
          <a:xfrm>
            <a:off x="1409108" y="4056612"/>
            <a:ext cx="2347123" cy="1104020"/>
          </a:xfrm>
          <a:prstGeom prst="rect">
            <a:avLst/>
          </a:prstGeom>
        </p:spPr>
      </p:pic>
      <p:pic>
        <p:nvPicPr>
          <p:cNvPr id="4" name="Picture 3" descr="A bunk bed with blue pillows&#10;&#10;Description automatically generated">
            <a:extLst>
              <a:ext uri="{FF2B5EF4-FFF2-40B4-BE49-F238E27FC236}">
                <a16:creationId xmlns:a16="http://schemas.microsoft.com/office/drawing/2014/main" id="{5FE12205-29DE-2747-9D6A-24B84A787A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52963"/>
          <a:stretch/>
        </p:blipFill>
        <p:spPr>
          <a:xfrm>
            <a:off x="1409109" y="2305583"/>
            <a:ext cx="2347123" cy="1104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E51F67-2799-EB1A-4E68-93CE4357CD51}"/>
              </a:ext>
            </a:extLst>
          </p:cNvPr>
          <p:cNvSpPr txBox="1"/>
          <p:nvPr/>
        </p:nvSpPr>
        <p:spPr>
          <a:xfrm>
            <a:off x="4908859" y="3040949"/>
            <a:ext cx="3293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Learn how to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do it once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Find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pattern</a:t>
            </a:r>
            <a:endParaRPr lang="en-US" sz="2000" dirty="0">
              <a:solidFill>
                <a:srgbClr val="13A89E"/>
              </a:solidFill>
              <a:latin typeface="Helvetica Light" panose="020B0403020202020204" pitchFamily="34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Repeat</a:t>
            </a:r>
            <a:r>
              <a:rPr lang="en-US" sz="2000" dirty="0">
                <a:latin typeface="Helvetica Light" panose="020B0403020202020204" pitchFamily="34" charset="0"/>
              </a:rPr>
              <a:t> it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D299E92-5BDC-6FBF-C0DF-BEC5A4781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37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FA0C-0E2B-180A-0DE9-93189ACE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1B94-2602-DD51-929F-352C4127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Algorithms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8E73DE-F2F3-E15A-29FE-B51869877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grayscl/>
          </a:blip>
          <a:stretch>
            <a:fillRect/>
          </a:stretch>
        </p:blipFill>
        <p:spPr>
          <a:xfrm>
            <a:off x="1000194" y="1845293"/>
            <a:ext cx="2472384" cy="2472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32FAA-2EA8-2852-55C3-057D35A7E488}"/>
              </a:ext>
            </a:extLst>
          </p:cNvPr>
          <p:cNvSpPr txBox="1"/>
          <p:nvPr/>
        </p:nvSpPr>
        <p:spPr>
          <a:xfrm>
            <a:off x="4586227" y="2108073"/>
            <a:ext cx="2954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Precise set of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instructions</a:t>
            </a:r>
            <a:r>
              <a:rPr lang="en-US" sz="2000" dirty="0">
                <a:latin typeface="Helvetica Light" panose="020B0403020202020204" pitchFamily="34" charset="0"/>
              </a:rPr>
              <a:t> used for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solving a problem </a:t>
            </a:r>
            <a:r>
              <a:rPr lang="en-US" sz="2000" dirty="0">
                <a:latin typeface="Helvetica Light" panose="020B0403020202020204" pitchFamily="34" charset="0"/>
              </a:rPr>
              <a:t>or performing a task.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C92F9-FEBA-6EB8-408B-B3DB1E2A1DE4}"/>
              </a:ext>
            </a:extLst>
          </p:cNvPr>
          <p:cNvSpPr txBox="1"/>
          <p:nvPr/>
        </p:nvSpPr>
        <p:spPr>
          <a:xfrm>
            <a:off x="628650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Tying your shoes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a book in the library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Following a cooking recipe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930F4-4F7A-7C70-A9B0-EF42D79344BD}"/>
              </a:ext>
            </a:extLst>
          </p:cNvPr>
          <p:cNvSpPr txBox="1"/>
          <p:nvPr/>
        </p:nvSpPr>
        <p:spPr>
          <a:xfrm>
            <a:off x="4586227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the shortest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Sorting a list of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Recommending digital content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4F9D9-83CF-27D5-CD0E-D4F52B6F118B}"/>
              </a:ext>
            </a:extLst>
          </p:cNvPr>
          <p:cNvSpPr/>
          <p:nvPr/>
        </p:nvSpPr>
        <p:spPr>
          <a:xfrm>
            <a:off x="4285561" y="4781320"/>
            <a:ext cx="4505899" cy="1288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7FB46C3-689F-F367-6A2C-E2C1ECEAD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10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FA0C-0E2B-180A-0DE9-93189ACE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1B94-2602-DD51-929F-352C4127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Algorithms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8E73DE-F2F3-E15A-29FE-B51869877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tretch>
            <a:fillRect/>
          </a:stretch>
        </p:blipFill>
        <p:spPr>
          <a:xfrm>
            <a:off x="1000194" y="1845293"/>
            <a:ext cx="2472384" cy="2472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32FAA-2EA8-2852-55C3-057D35A7E488}"/>
              </a:ext>
            </a:extLst>
          </p:cNvPr>
          <p:cNvSpPr txBox="1"/>
          <p:nvPr/>
        </p:nvSpPr>
        <p:spPr>
          <a:xfrm>
            <a:off x="4586227" y="2108073"/>
            <a:ext cx="2954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Precise set of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instructions</a:t>
            </a:r>
            <a:r>
              <a:rPr lang="en-US" sz="2000" dirty="0">
                <a:latin typeface="Helvetica Light" panose="020B0403020202020204" pitchFamily="34" charset="0"/>
              </a:rPr>
              <a:t> used for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solving a problem </a:t>
            </a:r>
            <a:r>
              <a:rPr lang="en-US" sz="2000" dirty="0">
                <a:latin typeface="Helvetica Light" panose="020B0403020202020204" pitchFamily="34" charset="0"/>
              </a:rPr>
              <a:t>or performing a task.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C92F9-FEBA-6EB8-408B-B3DB1E2A1DE4}"/>
              </a:ext>
            </a:extLst>
          </p:cNvPr>
          <p:cNvSpPr txBox="1"/>
          <p:nvPr/>
        </p:nvSpPr>
        <p:spPr>
          <a:xfrm>
            <a:off x="628650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Tying your shoes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a book in the library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Following a cooking recipe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930F4-4F7A-7C70-A9B0-EF42D79344BD}"/>
              </a:ext>
            </a:extLst>
          </p:cNvPr>
          <p:cNvSpPr txBox="1"/>
          <p:nvPr/>
        </p:nvSpPr>
        <p:spPr>
          <a:xfrm>
            <a:off x="4586227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the shortest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Sorting a list of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Recommending digital content 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777D7D78-442D-2AB5-1EEB-DB862487E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34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63495-EFB7-B13E-FAE4-3FB372F6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3921-C110-FEE9-7DE6-B692A8F5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3"/>
            <a:ext cx="8375501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Hands-on 1: Exploring a coding environment!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9BF1329-2160-9566-639E-599BF62C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9EE6C0-E3E0-BCAC-0291-CF46CB335264}"/>
              </a:ext>
            </a:extLst>
          </p:cNvPr>
          <p:cNvSpPr txBox="1"/>
          <p:nvPr/>
        </p:nvSpPr>
        <p:spPr>
          <a:xfrm>
            <a:off x="689075" y="1963486"/>
            <a:ext cx="78370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Today, we will be using an online IDE – Integrated Development Environment</a:t>
            </a:r>
          </a:p>
          <a:p>
            <a:endParaRPr lang="en-CA" sz="2400" dirty="0"/>
          </a:p>
          <a:p>
            <a:r>
              <a:rPr lang="en-CA" sz="2400" dirty="0"/>
              <a:t>In future workshops, we will show you how to install and use one on your local computer!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9468A-871D-9E71-4B77-1D3AEB560298}"/>
              </a:ext>
            </a:extLst>
          </p:cNvPr>
          <p:cNvSpPr txBox="1"/>
          <p:nvPr/>
        </p:nvSpPr>
        <p:spPr>
          <a:xfrm>
            <a:off x="1206421" y="4626647"/>
            <a:ext cx="67311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200" dirty="0">
                <a:hlinkClick r:id="rId3"/>
              </a:rPr>
              <a:t>https://www.online-ide.com/online_python_ide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911825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8162-34AE-72DB-6426-8BD0400D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EB2DD52-B2BA-CE3B-4BDA-2AFF0398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22B15E-3132-9E45-0417-A2F39A291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6C0906-1009-8B0E-E29D-823C38CB2C24}"/>
              </a:ext>
            </a:extLst>
          </p:cNvPr>
          <p:cNvCxnSpPr/>
          <p:nvPr/>
        </p:nvCxnSpPr>
        <p:spPr>
          <a:xfrm flipH="1">
            <a:off x="3531476" y="1082566"/>
            <a:ext cx="788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810D532-681F-2DB9-4A1D-5E59B6384B08}"/>
              </a:ext>
            </a:extLst>
          </p:cNvPr>
          <p:cNvSpPr txBox="1"/>
          <p:nvPr/>
        </p:nvSpPr>
        <p:spPr>
          <a:xfrm>
            <a:off x="4319752" y="620709"/>
            <a:ext cx="3108279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comment</a:t>
            </a:r>
          </a:p>
          <a:p>
            <a:r>
              <a:rPr lang="en-CA" dirty="0"/>
              <a:t>A leading # signifies to the IDE not to read this line</a:t>
            </a:r>
          </a:p>
        </p:txBody>
      </p:sp>
    </p:spTree>
    <p:extLst>
      <p:ext uri="{BB962C8B-B14F-4D97-AF65-F5344CB8AC3E}">
        <p14:creationId xmlns:p14="http://schemas.microsoft.com/office/powerpoint/2010/main" val="344214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4577-30A4-C13F-C456-38941F72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95D3611-4B75-DE8D-D35D-B151DF25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E0DD1B-23CA-0BE4-E036-18930DA7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6B0D57-8583-55A5-6418-B8D8919C1068}"/>
              </a:ext>
            </a:extLst>
          </p:cNvPr>
          <p:cNvCxnSpPr/>
          <p:nvPr/>
        </p:nvCxnSpPr>
        <p:spPr>
          <a:xfrm flipH="1">
            <a:off x="3531476" y="1082566"/>
            <a:ext cx="788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2FC2EF-2EC1-DF2E-79BA-4FFD98893EB9}"/>
              </a:ext>
            </a:extLst>
          </p:cNvPr>
          <p:cNvSpPr txBox="1"/>
          <p:nvPr/>
        </p:nvSpPr>
        <p:spPr>
          <a:xfrm>
            <a:off x="4319752" y="620709"/>
            <a:ext cx="3108279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comment</a:t>
            </a:r>
          </a:p>
          <a:p>
            <a:r>
              <a:rPr lang="en-CA" dirty="0"/>
              <a:t>A leading # signifies to the IDE not to read this line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CF2A539-E552-6604-076F-E3AD5850B24C}"/>
              </a:ext>
            </a:extLst>
          </p:cNvPr>
          <p:cNvCxnSpPr>
            <a:cxnSpLocks/>
          </p:cNvCxnSpPr>
          <p:nvPr/>
        </p:nvCxnSpPr>
        <p:spPr>
          <a:xfrm flipV="1">
            <a:off x="819807" y="1544423"/>
            <a:ext cx="0" cy="494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B01BBB-EF83-7323-41DF-634171E76DAC}"/>
              </a:ext>
            </a:extLst>
          </p:cNvPr>
          <p:cNvSpPr txBox="1"/>
          <p:nvPr/>
        </p:nvSpPr>
        <p:spPr>
          <a:xfrm>
            <a:off x="656897" y="2102009"/>
            <a:ext cx="4608781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print command</a:t>
            </a:r>
          </a:p>
          <a:p>
            <a:r>
              <a:rPr lang="en-CA" dirty="0"/>
              <a:t>It will print any string you give it!</a:t>
            </a:r>
          </a:p>
          <a:p>
            <a:r>
              <a:rPr lang="en-CA" dirty="0"/>
              <a:t>That’s anything in “”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2CD4DE-6447-F424-0E88-05B899307D5B}"/>
              </a:ext>
            </a:extLst>
          </p:cNvPr>
          <p:cNvCxnSpPr>
            <a:cxnSpLocks/>
          </p:cNvCxnSpPr>
          <p:nvPr/>
        </p:nvCxnSpPr>
        <p:spPr>
          <a:xfrm>
            <a:off x="2511973" y="3025723"/>
            <a:ext cx="0" cy="156729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873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0CF1-E4AF-AF93-ED39-910AB8B8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E1BCF7-8092-12F3-B8DC-0E1072B6F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E67298-269A-4044-C1E6-4692CD376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B4FEC9-664B-2695-9F27-C4EE40F7FAE9}"/>
              </a:ext>
            </a:extLst>
          </p:cNvPr>
          <p:cNvCxnSpPr/>
          <p:nvPr/>
        </p:nvCxnSpPr>
        <p:spPr>
          <a:xfrm flipH="1">
            <a:off x="798786" y="3951890"/>
            <a:ext cx="241738" cy="3363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F9E520B-E2C0-AA37-253E-EBD129DDC8FF}"/>
              </a:ext>
            </a:extLst>
          </p:cNvPr>
          <p:cNvSpPr txBox="1"/>
          <p:nvPr/>
        </p:nvSpPr>
        <p:spPr>
          <a:xfrm>
            <a:off x="1261241" y="3531476"/>
            <a:ext cx="140936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Click on Run!</a:t>
            </a:r>
          </a:p>
        </p:txBody>
      </p:sp>
    </p:spTree>
    <p:extLst>
      <p:ext uri="{BB962C8B-B14F-4D97-AF65-F5344CB8AC3E}">
        <p14:creationId xmlns:p14="http://schemas.microsoft.com/office/powerpoint/2010/main" val="679314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B549A-2E02-F3A5-CE0B-F9FC60B9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6BDA2EC-67C8-BAA9-6270-3B3E4F0ED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855A5D-1666-F669-FDDE-6F42B215C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9AC56A-D7CA-DDB9-D7A5-85DDDEBDF9AA}"/>
              </a:ext>
            </a:extLst>
          </p:cNvPr>
          <p:cNvCxnSpPr/>
          <p:nvPr/>
        </p:nvCxnSpPr>
        <p:spPr>
          <a:xfrm flipH="1">
            <a:off x="798786" y="3951890"/>
            <a:ext cx="241738" cy="3363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C9EFDF-D165-CDDD-B01B-FA67E03AA286}"/>
              </a:ext>
            </a:extLst>
          </p:cNvPr>
          <p:cNvSpPr txBox="1"/>
          <p:nvPr/>
        </p:nvSpPr>
        <p:spPr>
          <a:xfrm>
            <a:off x="1261241" y="3531476"/>
            <a:ext cx="140936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Click on Run!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9EAEF9-B2BF-CBF5-01B2-4E963B95B414}"/>
              </a:ext>
            </a:extLst>
          </p:cNvPr>
          <p:cNvCxnSpPr/>
          <p:nvPr/>
        </p:nvCxnSpPr>
        <p:spPr>
          <a:xfrm flipH="1">
            <a:off x="2576008" y="5118539"/>
            <a:ext cx="6506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FFF5D5-FD58-9F32-5DC4-5B416D965031}"/>
              </a:ext>
            </a:extLst>
          </p:cNvPr>
          <p:cNvSpPr txBox="1"/>
          <p:nvPr/>
        </p:nvSpPr>
        <p:spPr>
          <a:xfrm>
            <a:off x="3352801" y="4749079"/>
            <a:ext cx="4315477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use Return Code as a type of “exit code”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2AE81-D517-FA58-11FA-46E0D34189DF}"/>
              </a:ext>
            </a:extLst>
          </p:cNvPr>
          <p:cNvSpPr txBox="1"/>
          <p:nvPr/>
        </p:nvSpPr>
        <p:spPr>
          <a:xfrm>
            <a:off x="3226676" y="5251794"/>
            <a:ext cx="47780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Most times Code 0 means your program worked!</a:t>
            </a:r>
          </a:p>
        </p:txBody>
      </p:sp>
    </p:spTree>
    <p:extLst>
      <p:ext uri="{BB962C8B-B14F-4D97-AF65-F5344CB8AC3E}">
        <p14:creationId xmlns:p14="http://schemas.microsoft.com/office/powerpoint/2010/main" val="1634166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3B1B0-A26F-F113-D605-0CDA56B1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BB73AD73-C252-AC48-BD31-F12099E9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C5BB41-3992-1808-9372-528E169CC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925ED-B602-C4D5-7B1D-051B6BAE245A}"/>
              </a:ext>
            </a:extLst>
          </p:cNvPr>
          <p:cNvSpPr txBox="1"/>
          <p:nvPr/>
        </p:nvSpPr>
        <p:spPr>
          <a:xfrm>
            <a:off x="599090" y="1881352"/>
            <a:ext cx="454143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What happens if you remove this parenthesis?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0BC768-22BF-151E-5ABE-9D946250B0D4}"/>
              </a:ext>
            </a:extLst>
          </p:cNvPr>
          <p:cNvCxnSpPr/>
          <p:nvPr/>
        </p:nvCxnSpPr>
        <p:spPr>
          <a:xfrm flipV="1">
            <a:off x="3226676" y="1492469"/>
            <a:ext cx="0" cy="262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68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A54C-21DC-8AA8-633B-41C4029B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9D101F-B5ED-7B64-C894-63AC67530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C1A026-274A-5A6A-AA13-9FA0D82F95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035"/>
          <a:stretch>
            <a:fillRect/>
          </a:stretch>
        </p:blipFill>
        <p:spPr>
          <a:xfrm>
            <a:off x="519824" y="575880"/>
            <a:ext cx="7772400" cy="371234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8882BF-25B1-CA6B-07C4-71D3FF5EC817}"/>
              </a:ext>
            </a:extLst>
          </p:cNvPr>
          <p:cNvSpPr/>
          <p:nvPr/>
        </p:nvSpPr>
        <p:spPr>
          <a:xfrm>
            <a:off x="1618593" y="4687614"/>
            <a:ext cx="6180083" cy="11035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Any guesses?</a:t>
            </a:r>
          </a:p>
        </p:txBody>
      </p:sp>
    </p:spTree>
    <p:extLst>
      <p:ext uri="{BB962C8B-B14F-4D97-AF65-F5344CB8AC3E}">
        <p14:creationId xmlns:p14="http://schemas.microsoft.com/office/powerpoint/2010/main" val="3700255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9D751-19B4-CC98-D4D3-62D08414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E514BC3-BCFA-A0EA-1624-A2CB6CC0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A507A4-BFB8-0D14-9973-4C3FDB709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22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E264-E8A1-A93A-AEB5-60886FB2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55BA44E-E4E7-EA77-0A55-91B5BB9B3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4E345F-B984-E889-FD6F-3147F0132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CC53C5-8E25-8A63-4B41-E7C66F00EC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448870"/>
            <a:ext cx="8042799" cy="33342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A1E3E6-DA21-4355-F26F-B5E216EBB4EF}"/>
              </a:ext>
            </a:extLst>
          </p:cNvPr>
          <p:cNvCxnSpPr/>
          <p:nvPr/>
        </p:nvCxnSpPr>
        <p:spPr>
          <a:xfrm>
            <a:off x="2312276" y="1040525"/>
            <a:ext cx="0" cy="1481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200F77-386C-260D-781E-3982DA5E06D2}"/>
              </a:ext>
            </a:extLst>
          </p:cNvPr>
          <p:cNvSpPr txBox="1"/>
          <p:nvPr/>
        </p:nvSpPr>
        <p:spPr>
          <a:xfrm>
            <a:off x="977462" y="605222"/>
            <a:ext cx="3061094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We got an error! (Don’t panic)</a:t>
            </a:r>
          </a:p>
        </p:txBody>
      </p:sp>
    </p:spTree>
    <p:extLst>
      <p:ext uri="{BB962C8B-B14F-4D97-AF65-F5344CB8AC3E}">
        <p14:creationId xmlns:p14="http://schemas.microsoft.com/office/powerpoint/2010/main" val="644737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48B6-1329-7DC7-486C-72BDFEFB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DFDB7F9-E6FA-CE46-C6C3-6BDB75B7B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A5D804-3806-9BEA-C048-E26A00FE0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CD8DB6-1D81-58CC-FCE0-731934F1F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448870"/>
            <a:ext cx="8042799" cy="33342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AAA363-3EF9-4D78-39CF-617734691F88}"/>
              </a:ext>
            </a:extLst>
          </p:cNvPr>
          <p:cNvCxnSpPr/>
          <p:nvPr/>
        </p:nvCxnSpPr>
        <p:spPr>
          <a:xfrm>
            <a:off x="2312276" y="1040525"/>
            <a:ext cx="0" cy="1481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6327A0-C27C-ECFC-81E0-71095D9F9797}"/>
              </a:ext>
            </a:extLst>
          </p:cNvPr>
          <p:cNvSpPr txBox="1"/>
          <p:nvPr/>
        </p:nvSpPr>
        <p:spPr>
          <a:xfrm>
            <a:off x="977462" y="605222"/>
            <a:ext cx="3061094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We got an error! (Don’t panic)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46BB5E-CFDB-E5C5-5F9E-71EADB827E29}"/>
              </a:ext>
            </a:extLst>
          </p:cNvPr>
          <p:cNvCxnSpPr/>
          <p:nvPr/>
        </p:nvCxnSpPr>
        <p:spPr>
          <a:xfrm>
            <a:off x="819807" y="1040525"/>
            <a:ext cx="1492469" cy="7252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890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48DCB-ABAE-557F-DD96-ECA133F7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62C2D1D-B86F-4148-8698-DCB57EDCE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84875F-66EB-00E7-8338-1FFC7D46E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A96418-B438-3BF7-8D4D-5F3AC061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96FB09-E017-ECD0-0E1B-F7E99548F2FA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981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9DBB0-3F72-67F1-32BA-35679C09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8218FCD-FA09-7898-55B4-B6234A6A3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BD5699-3D66-686C-6615-EA377848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92BEEE-5F5E-9A73-D210-9B6C6D9480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0FA429-5C92-1CE3-48D3-7DE3BA20F980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DE62B4-608E-C7B6-D2A1-96F7700CD871}"/>
              </a:ext>
            </a:extLst>
          </p:cNvPr>
          <p:cNvCxnSpPr/>
          <p:nvPr/>
        </p:nvCxnSpPr>
        <p:spPr>
          <a:xfrm flipV="1">
            <a:off x="4740166" y="3331779"/>
            <a:ext cx="399393" cy="6516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F648AF-BDE8-F805-0EFD-71C0E303CBC6}"/>
              </a:ext>
            </a:extLst>
          </p:cNvPr>
          <p:cNvSpPr txBox="1"/>
          <p:nvPr/>
        </p:nvSpPr>
        <p:spPr>
          <a:xfrm>
            <a:off x="3972910" y="4130566"/>
            <a:ext cx="2449325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EOF means “End of File”</a:t>
            </a:r>
          </a:p>
        </p:txBody>
      </p:sp>
    </p:spTree>
    <p:extLst>
      <p:ext uri="{BB962C8B-B14F-4D97-AF65-F5344CB8AC3E}">
        <p14:creationId xmlns:p14="http://schemas.microsoft.com/office/powerpoint/2010/main" val="2864335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B0151-F08C-4F1C-BC60-393A284F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82CC551-C268-FC04-8A0F-BEACC4AC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A906F6-F607-1E00-42F6-4C295161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7A39D3-07C4-893E-92A0-1C9A09307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D62175-29F2-5F6B-05C7-DF1D7BE12043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35D701-1E66-2B39-8EE6-8536DB29D31C}"/>
              </a:ext>
            </a:extLst>
          </p:cNvPr>
          <p:cNvCxnSpPr/>
          <p:nvPr/>
        </p:nvCxnSpPr>
        <p:spPr>
          <a:xfrm flipV="1">
            <a:off x="6053959" y="4577254"/>
            <a:ext cx="399393" cy="6516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83B3FB-A539-28C9-E1FB-DEDD0DE4A780}"/>
              </a:ext>
            </a:extLst>
          </p:cNvPr>
          <p:cNvSpPr txBox="1"/>
          <p:nvPr/>
        </p:nvSpPr>
        <p:spPr>
          <a:xfrm>
            <a:off x="5055476" y="5412828"/>
            <a:ext cx="204530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got a Code of 1!</a:t>
            </a:r>
          </a:p>
        </p:txBody>
      </p:sp>
    </p:spTree>
    <p:extLst>
      <p:ext uri="{BB962C8B-B14F-4D97-AF65-F5344CB8AC3E}">
        <p14:creationId xmlns:p14="http://schemas.microsoft.com/office/powerpoint/2010/main" val="4027621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D372-906E-9B84-720B-727CB448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7645-C4EE-4216-68A9-94B6AC9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8151812" cy="285273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2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Coding fundamentals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and Hands-on testing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41779431-9F80-0DD5-DD4A-3241E04E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2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1E32-0807-2D85-6CEE-145AAC57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19FB97-D6C7-F062-D40D-C1D251380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64" y="2460881"/>
            <a:ext cx="2133739" cy="2133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3EB89F-6722-40BF-E79D-E336379FABB3}"/>
              </a:ext>
            </a:extLst>
          </p:cNvPr>
          <p:cNvSpPr txBox="1"/>
          <p:nvPr/>
        </p:nvSpPr>
        <p:spPr>
          <a:xfrm>
            <a:off x="4774409" y="3019918"/>
            <a:ext cx="3234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Container to                   </a:t>
            </a:r>
            <a:r>
              <a:rPr lang="en-US" sz="2000" dirty="0">
                <a:highlight>
                  <a:srgbClr val="13A89E"/>
                </a:highlight>
                <a:latin typeface="Helvetica Light" panose="020B0403020202020204" pitchFamily="34" charset="0"/>
              </a:rPr>
              <a:t>store information </a:t>
            </a:r>
          </a:p>
          <a:p>
            <a:pPr algn="ctr"/>
            <a:r>
              <a:rPr lang="en-US" sz="2000" dirty="0">
                <a:latin typeface="Helvetica Light" panose="020B0403020202020204" pitchFamily="34" charset="0"/>
              </a:rPr>
              <a:t>needed in the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5CAEA-570A-1028-645C-F297D61A09CF}"/>
              </a:ext>
            </a:extLst>
          </p:cNvPr>
          <p:cNvSpPr txBox="1"/>
          <p:nvPr/>
        </p:nvSpPr>
        <p:spPr>
          <a:xfrm>
            <a:off x="3369897" y="5513005"/>
            <a:ext cx="2084228" cy="408764"/>
          </a:xfrm>
          <a:prstGeom prst="roundRect">
            <a:avLst/>
          </a:prstGeom>
          <a:solidFill>
            <a:srgbClr val="72B0AF"/>
          </a:solidFill>
          <a:ln>
            <a:solidFill>
              <a:srgbClr val="72B0A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shape = “circle”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0B63161-3842-2A20-549D-164450809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05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09BC-2A57-E631-51C7-F4DA33DE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FE5E-82B4-8724-E760-38652622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types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AB57631A-A5C7-116D-4053-B3AE6BDA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80020" y="2783058"/>
            <a:ext cx="5592063" cy="20338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082F3-5A80-971B-1BE0-B8F462B21461}"/>
              </a:ext>
            </a:extLst>
          </p:cNvPr>
          <p:cNvSpPr txBox="1"/>
          <p:nvPr/>
        </p:nvSpPr>
        <p:spPr>
          <a:xfrm>
            <a:off x="70338" y="6464268"/>
            <a:ext cx="5365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Adapted from https://press.rebus.community/programmingfundamentals/chapter/data-types/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E5AE7-B138-B636-EFE3-B0822F825800}"/>
              </a:ext>
            </a:extLst>
          </p:cNvPr>
          <p:cNvSpPr txBox="1"/>
          <p:nvPr/>
        </p:nvSpPr>
        <p:spPr>
          <a:xfrm>
            <a:off x="1197191" y="2045919"/>
            <a:ext cx="672491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Refers to the </a:t>
            </a:r>
            <a:r>
              <a:rPr lang="en-US" dirty="0">
                <a:highlight>
                  <a:srgbClr val="13A89E"/>
                </a:highlight>
                <a:latin typeface="Helvetica Light" panose="020B0403020202020204" pitchFamily="34" charset="0"/>
              </a:rPr>
              <a:t>kind of information </a:t>
            </a:r>
            <a:r>
              <a:rPr lang="en-US" dirty="0">
                <a:latin typeface="Helvetica Light" panose="020B0403020202020204" pitchFamily="34" charset="0"/>
              </a:rPr>
              <a:t>that can be stored in a variable</a:t>
            </a:r>
          </a:p>
        </p:txBody>
      </p:sp>
      <p:pic>
        <p:nvPicPr>
          <p:cNvPr id="11" name="Graphic 10" descr="Filing Box Archive with solid fill">
            <a:extLst>
              <a:ext uri="{FF2B5EF4-FFF2-40B4-BE49-F238E27FC236}">
                <a16:creationId xmlns:a16="http://schemas.microsoft.com/office/drawing/2014/main" id="{EB7DC17E-A499-14EC-2E0E-077A19D6B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9054" y="4809346"/>
            <a:ext cx="1208243" cy="1208243"/>
          </a:xfrm>
          <a:prstGeom prst="rect">
            <a:avLst/>
          </a:prstGeom>
        </p:spPr>
      </p:pic>
      <p:pic>
        <p:nvPicPr>
          <p:cNvPr id="12" name="Graphic 11" descr="Filing Box Archive with solid fill">
            <a:extLst>
              <a:ext uri="{FF2B5EF4-FFF2-40B4-BE49-F238E27FC236}">
                <a16:creationId xmlns:a16="http://schemas.microsoft.com/office/drawing/2014/main" id="{83B28125-B09E-7CC6-5BC5-2FA57A58CF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2502" y="4847965"/>
            <a:ext cx="1208243" cy="1208243"/>
          </a:xfrm>
          <a:prstGeom prst="rect">
            <a:avLst/>
          </a:prstGeom>
        </p:spPr>
      </p:pic>
      <p:pic>
        <p:nvPicPr>
          <p:cNvPr id="13" name="Graphic 12" descr="Filing Box Archive with solid fill">
            <a:extLst>
              <a:ext uri="{FF2B5EF4-FFF2-40B4-BE49-F238E27FC236}">
                <a16:creationId xmlns:a16="http://schemas.microsoft.com/office/drawing/2014/main" id="{8845C8A1-2EE3-8573-714C-F2803FDDF6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9119" y="4831678"/>
            <a:ext cx="1208243" cy="12082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EBCCBD-2218-39BF-D99B-C04018C8BD30}"/>
              </a:ext>
            </a:extLst>
          </p:cNvPr>
          <p:cNvSpPr txBox="1"/>
          <p:nvPr/>
        </p:nvSpPr>
        <p:spPr>
          <a:xfrm>
            <a:off x="1702376" y="5503103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747FA-F71A-37F8-7DC5-C5C89B96C133}"/>
              </a:ext>
            </a:extLst>
          </p:cNvPr>
          <p:cNvSpPr txBox="1"/>
          <p:nvPr/>
        </p:nvSpPr>
        <p:spPr>
          <a:xfrm>
            <a:off x="4195824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37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6499D-3EEB-DD06-68E5-2CAAE8EF67CA}"/>
              </a:ext>
            </a:extLst>
          </p:cNvPr>
          <p:cNvSpPr txBox="1"/>
          <p:nvPr/>
        </p:nvSpPr>
        <p:spPr>
          <a:xfrm>
            <a:off x="6542441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“dog”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275C7023-9A10-210A-7451-BF92E9D422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36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A50C-5B6D-0E1F-969A-278C78131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Python has a “dynamic” typing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It will </a:t>
            </a:r>
            <a:r>
              <a:rPr lang="en-CA" i="1" dirty="0"/>
              <a:t>guess</a:t>
            </a:r>
            <a:r>
              <a:rPr lang="en-CA" dirty="0"/>
              <a:t> what data type your variable is!</a:t>
            </a: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2A593495-8855-7D4C-3494-BCD7D704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530" y="2412056"/>
            <a:ext cx="5592063" cy="203388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30CB75-9CE4-259B-9538-530391ED3CA1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Before we start…</a:t>
            </a:r>
          </a:p>
        </p:txBody>
      </p:sp>
    </p:spTree>
    <p:extLst>
      <p:ext uri="{BB962C8B-B14F-4D97-AF65-F5344CB8AC3E}">
        <p14:creationId xmlns:p14="http://schemas.microsoft.com/office/powerpoint/2010/main" val="936330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D9D7-7765-2065-7568-BB54135C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D6577-5F8E-EE28-9AA4-BE94EFF1B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4351335"/>
          </a:xfrm>
        </p:spPr>
        <p:txBody>
          <a:bodyPr/>
          <a:lstStyle/>
          <a:p>
            <a:r>
              <a:rPr lang="en-CA" dirty="0"/>
              <a:t>We can use the type() function to tell us what the IDE thinks it is!</a:t>
            </a:r>
          </a:p>
          <a:p>
            <a:r>
              <a:rPr lang="en-CA" dirty="0"/>
              <a:t>Use it and the print() function to tell us what </a:t>
            </a:r>
            <a:r>
              <a:rPr lang="en-CA" dirty="0" err="1"/>
              <a:t>variableA</a:t>
            </a:r>
            <a:r>
              <a:rPr lang="en-CA" dirty="0"/>
              <a:t> is!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6" name="Picture 5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D650CBCC-39FC-CEA9-D044-05E487DA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30"/>
          <a:stretch>
            <a:fillRect/>
          </a:stretch>
        </p:blipFill>
        <p:spPr>
          <a:xfrm>
            <a:off x="1248533" y="3622920"/>
            <a:ext cx="6646933" cy="23106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D8AC08-BFE8-FB95-0B6C-136F3C048D77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it!</a:t>
            </a:r>
          </a:p>
        </p:txBody>
      </p:sp>
    </p:spTree>
    <p:extLst>
      <p:ext uri="{BB962C8B-B14F-4D97-AF65-F5344CB8AC3E}">
        <p14:creationId xmlns:p14="http://schemas.microsoft.com/office/powerpoint/2010/main" val="472215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40684A-CF06-D6B4-1897-C78ABF6AF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394" b="75883"/>
          <a:stretch>
            <a:fillRect/>
          </a:stretch>
        </p:blipFill>
        <p:spPr>
          <a:xfrm>
            <a:off x="1195558" y="1392622"/>
            <a:ext cx="6752884" cy="2323781"/>
          </a:xfrm>
        </p:spPr>
      </p:pic>
      <p:pic>
        <p:nvPicPr>
          <p:cNvPr id="7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306E6F-0A03-A383-B297-E8DF813D89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756" r="62394"/>
          <a:stretch>
            <a:fillRect/>
          </a:stretch>
        </p:blipFill>
        <p:spPr>
          <a:xfrm>
            <a:off x="1195558" y="3838903"/>
            <a:ext cx="6752885" cy="204688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87930D0-784D-27E1-AA9B-1399B138D1BD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You can even make it “fancy”</a:t>
            </a:r>
          </a:p>
        </p:txBody>
      </p:sp>
    </p:spTree>
    <p:extLst>
      <p:ext uri="{BB962C8B-B14F-4D97-AF65-F5344CB8AC3E}">
        <p14:creationId xmlns:p14="http://schemas.microsoft.com/office/powerpoint/2010/main" val="3427416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2B64-5E00-EA37-380B-61427DB3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667B0970-6CED-BF9E-9391-5067E03B5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740" y="1914418"/>
            <a:ext cx="8328519" cy="3029164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FBF4F5-F8CE-C8AC-6B0B-D9104B752834}"/>
              </a:ext>
            </a:extLst>
          </p:cNvPr>
          <p:cNvCxnSpPr>
            <a:cxnSpLocks/>
          </p:cNvCxnSpPr>
          <p:nvPr/>
        </p:nvCxnSpPr>
        <p:spPr>
          <a:xfrm flipV="1">
            <a:off x="4698124" y="4761186"/>
            <a:ext cx="977462" cy="262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2DF4DF-C178-3AF1-1EB8-FFA03DF60D46}"/>
              </a:ext>
            </a:extLst>
          </p:cNvPr>
          <p:cNvSpPr txBox="1"/>
          <p:nvPr/>
        </p:nvSpPr>
        <p:spPr>
          <a:xfrm>
            <a:off x="1745304" y="4943582"/>
            <a:ext cx="309257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Python uses the </a:t>
            </a:r>
            <a:r>
              <a:rPr lang="en-CA" i="1" dirty="0"/>
              <a:t>keyword</a:t>
            </a:r>
            <a:r>
              <a:rPr lang="en-CA" dirty="0"/>
              <a:t> None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70804-C03C-D7EC-ED52-92591688B758}"/>
              </a:ext>
            </a:extLst>
          </p:cNvPr>
          <p:cNvSpPr txBox="1"/>
          <p:nvPr/>
        </p:nvSpPr>
        <p:spPr>
          <a:xfrm>
            <a:off x="6322590" y="5167312"/>
            <a:ext cx="2727433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Python uses the </a:t>
            </a:r>
            <a:r>
              <a:rPr lang="en-CA" i="1" dirty="0"/>
              <a:t>keywords</a:t>
            </a:r>
            <a:r>
              <a:rPr lang="en-CA" dirty="0"/>
              <a:t> True and False not true and false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ED18F9-3B99-3F2B-CB0C-2D07CDE168E6}"/>
              </a:ext>
            </a:extLst>
          </p:cNvPr>
          <p:cNvCxnSpPr>
            <a:cxnSpLocks/>
          </p:cNvCxnSpPr>
          <p:nvPr/>
        </p:nvCxnSpPr>
        <p:spPr>
          <a:xfrm flipH="1" flipV="1">
            <a:off x="6717191" y="4277710"/>
            <a:ext cx="480384" cy="777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B895C55-EFF8-E715-AA3F-5DA758332A79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Assign and print each type!</a:t>
            </a:r>
          </a:p>
        </p:txBody>
      </p:sp>
    </p:spTree>
    <p:extLst>
      <p:ext uri="{BB962C8B-B14F-4D97-AF65-F5344CB8AC3E}">
        <p14:creationId xmlns:p14="http://schemas.microsoft.com/office/powerpoint/2010/main" val="2606968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09BC-2A57-E631-51C7-F4DA33DE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FE5E-82B4-8724-E760-38652622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types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AB57631A-A5C7-116D-4053-B3AE6BDA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020" y="2783058"/>
            <a:ext cx="5592063" cy="20338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082F3-5A80-971B-1BE0-B8F462B21461}"/>
              </a:ext>
            </a:extLst>
          </p:cNvPr>
          <p:cNvSpPr txBox="1"/>
          <p:nvPr/>
        </p:nvSpPr>
        <p:spPr>
          <a:xfrm>
            <a:off x="70338" y="6464268"/>
            <a:ext cx="5365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Adapted from https://press.rebus.community/programmingfundamentals/chapter/data-types/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E5AE7-B138-B636-EFE3-B0822F825800}"/>
              </a:ext>
            </a:extLst>
          </p:cNvPr>
          <p:cNvSpPr txBox="1"/>
          <p:nvPr/>
        </p:nvSpPr>
        <p:spPr>
          <a:xfrm>
            <a:off x="1197191" y="2045919"/>
            <a:ext cx="672491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Refers to the </a:t>
            </a:r>
            <a:r>
              <a:rPr lang="en-US" dirty="0">
                <a:highlight>
                  <a:srgbClr val="13A89E"/>
                </a:highlight>
                <a:latin typeface="Helvetica Light" panose="020B0403020202020204" pitchFamily="34" charset="0"/>
              </a:rPr>
              <a:t>kind of information </a:t>
            </a:r>
            <a:r>
              <a:rPr lang="en-US" dirty="0">
                <a:latin typeface="Helvetica Light" panose="020B0403020202020204" pitchFamily="34" charset="0"/>
              </a:rPr>
              <a:t>that can be stored in a variable</a:t>
            </a:r>
          </a:p>
        </p:txBody>
      </p:sp>
      <p:pic>
        <p:nvPicPr>
          <p:cNvPr id="11" name="Graphic 10" descr="Filing Box Archive with solid fill">
            <a:extLst>
              <a:ext uri="{FF2B5EF4-FFF2-40B4-BE49-F238E27FC236}">
                <a16:creationId xmlns:a16="http://schemas.microsoft.com/office/drawing/2014/main" id="{EB7DC17E-A499-14EC-2E0E-077A19D6B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9054" y="4809346"/>
            <a:ext cx="1208243" cy="1208243"/>
          </a:xfrm>
          <a:prstGeom prst="rect">
            <a:avLst/>
          </a:prstGeom>
        </p:spPr>
      </p:pic>
      <p:pic>
        <p:nvPicPr>
          <p:cNvPr id="12" name="Graphic 11" descr="Filing Box Archive with solid fill">
            <a:extLst>
              <a:ext uri="{FF2B5EF4-FFF2-40B4-BE49-F238E27FC236}">
                <a16:creationId xmlns:a16="http://schemas.microsoft.com/office/drawing/2014/main" id="{83B28125-B09E-7CC6-5BC5-2FA57A58C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2502" y="4847965"/>
            <a:ext cx="1208243" cy="1208243"/>
          </a:xfrm>
          <a:prstGeom prst="rect">
            <a:avLst/>
          </a:prstGeom>
        </p:spPr>
      </p:pic>
      <p:pic>
        <p:nvPicPr>
          <p:cNvPr id="13" name="Graphic 12" descr="Filing Box Archive with solid fill">
            <a:extLst>
              <a:ext uri="{FF2B5EF4-FFF2-40B4-BE49-F238E27FC236}">
                <a16:creationId xmlns:a16="http://schemas.microsoft.com/office/drawing/2014/main" id="{8845C8A1-2EE3-8573-714C-F2803FDDF6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9119" y="4831678"/>
            <a:ext cx="1208243" cy="12082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EBCCBD-2218-39BF-D99B-C04018C8BD30}"/>
              </a:ext>
            </a:extLst>
          </p:cNvPr>
          <p:cNvSpPr txBox="1"/>
          <p:nvPr/>
        </p:nvSpPr>
        <p:spPr>
          <a:xfrm>
            <a:off x="1702376" y="5503103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747FA-F71A-37F8-7DC5-C5C89B96C133}"/>
              </a:ext>
            </a:extLst>
          </p:cNvPr>
          <p:cNvSpPr txBox="1"/>
          <p:nvPr/>
        </p:nvSpPr>
        <p:spPr>
          <a:xfrm>
            <a:off x="4195824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37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6499D-3EEB-DD06-68E5-2CAAE8EF67CA}"/>
              </a:ext>
            </a:extLst>
          </p:cNvPr>
          <p:cNvSpPr txBox="1"/>
          <p:nvPr/>
        </p:nvSpPr>
        <p:spPr>
          <a:xfrm>
            <a:off x="6542441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“dog”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AFEFB-9CE7-7771-9F98-1226F2AD22F0}"/>
              </a:ext>
            </a:extLst>
          </p:cNvPr>
          <p:cNvSpPr/>
          <p:nvPr/>
        </p:nvSpPr>
        <p:spPr>
          <a:xfrm>
            <a:off x="1880020" y="3954483"/>
            <a:ext cx="5043294" cy="5462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3EE717A-D500-F6F8-62D1-6F8C0EEE9E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9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BB54-EE23-6905-48E2-43ECF774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Boolean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D8665-42BE-7D3E-71DC-821D1508AD7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36087" y="1690688"/>
            <a:ext cx="2164575" cy="2164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3BD252-B48E-DA0E-DD03-7C2C83E97FA5}"/>
              </a:ext>
            </a:extLst>
          </p:cNvPr>
          <p:cNvSpPr txBox="1"/>
          <p:nvPr/>
        </p:nvSpPr>
        <p:spPr>
          <a:xfrm>
            <a:off x="4927465" y="1916154"/>
            <a:ext cx="2954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A type of operation that can only have </a:t>
            </a:r>
            <a:r>
              <a:rPr lang="en-US" sz="2400" dirty="0">
                <a:highlight>
                  <a:srgbClr val="13A89E"/>
                </a:highlight>
                <a:latin typeface="Helvetica Light" panose="020B0403020202020204" pitchFamily="34" charset="0"/>
              </a:rPr>
              <a:t>two possible outcomes</a:t>
            </a:r>
            <a:r>
              <a:rPr lang="en-US" sz="2400" dirty="0">
                <a:latin typeface="Helvetica Light" panose="020B0403020202020204" pitchFamily="34" charset="0"/>
              </a:rPr>
              <a:t>: </a:t>
            </a:r>
          </a:p>
          <a:p>
            <a:pPr algn="ctr"/>
            <a:r>
              <a:rPr lang="en-US" sz="2400" b="1" dirty="0">
                <a:latin typeface="Helvetica" pitchFamily="2" charset="0"/>
              </a:rPr>
              <a:t>TRUE</a:t>
            </a:r>
            <a:r>
              <a:rPr lang="en-US" sz="2400" dirty="0">
                <a:latin typeface="Helvetica Light" panose="020B0403020202020204" pitchFamily="34" charset="0"/>
              </a:rPr>
              <a:t> or </a:t>
            </a:r>
            <a:r>
              <a:rPr lang="en-US" sz="2400" b="1" dirty="0">
                <a:latin typeface="Helvetica" pitchFamily="2" charset="0"/>
              </a:rPr>
              <a:t>FALSE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7B50263F-6644-4541-F02B-0738499B15B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64629004"/>
              </p:ext>
            </p:extLst>
          </p:nvPr>
        </p:nvGraphicFramePr>
        <p:xfrm>
          <a:off x="2518374" y="4442912"/>
          <a:ext cx="3886198" cy="1752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943099">
                  <a:extLst>
                    <a:ext uri="{9D8B030D-6E8A-4147-A177-3AD203B41FA5}">
                      <a16:colId xmlns:a16="http://schemas.microsoft.com/office/drawing/2014/main" val="1898302562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2091789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Boolean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57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2+2 ==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925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“dog”==“human”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58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2*2 &gt;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57611"/>
                  </a:ext>
                </a:extLst>
              </a:tr>
            </a:tbl>
          </a:graphicData>
        </a:graphic>
      </p:graphicFrame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718E5C37-E551-9226-0BA0-7A0B5663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71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4A5C66-B5D2-6519-6362-824A9E4CE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621" b="63454"/>
          <a:stretch>
            <a:fillRect/>
          </a:stretch>
        </p:blipFill>
        <p:spPr>
          <a:xfrm>
            <a:off x="1537241" y="1373679"/>
            <a:ext cx="6069518" cy="3370261"/>
          </a:xfrm>
        </p:spPr>
      </p:pic>
      <p:pic>
        <p:nvPicPr>
          <p:cNvPr id="7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A83C05-252D-9D29-D18E-749FB4660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869" r="71223"/>
          <a:stretch>
            <a:fillRect/>
          </a:stretch>
        </p:blipFill>
        <p:spPr>
          <a:xfrm>
            <a:off x="1537241" y="4862634"/>
            <a:ext cx="4713684" cy="17797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B5FB1A6-FDF1-E761-1278-EF1AEFC3216C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it!</a:t>
            </a:r>
          </a:p>
        </p:txBody>
      </p:sp>
    </p:spTree>
    <p:extLst>
      <p:ext uri="{BB962C8B-B14F-4D97-AF65-F5344CB8AC3E}">
        <p14:creationId xmlns:p14="http://schemas.microsoft.com/office/powerpoint/2010/main" val="1881463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38B7BE6-4949-E2BD-A259-23F68D794F50}"/>
              </a:ext>
            </a:extLst>
          </p:cNvPr>
          <p:cNvSpPr/>
          <p:nvPr/>
        </p:nvSpPr>
        <p:spPr>
          <a:xfrm>
            <a:off x="1024932" y="2351312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3C9B46-C1A7-8554-725D-49DC2C5A9F37}"/>
              </a:ext>
            </a:extLst>
          </p:cNvPr>
          <p:cNvSpPr/>
          <p:nvPr/>
        </p:nvSpPr>
        <p:spPr>
          <a:xfrm>
            <a:off x="1024932" y="3535478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2085528" y="263884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2179303" y="3793813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1690300" y="4979433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4923694" y="2477256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4923693" y="3737059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4923693" y="4956664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352F14-0420-4D43-5A0E-66BEC5066280}"/>
              </a:ext>
            </a:extLst>
          </p:cNvPr>
          <p:cNvSpPr txBox="1"/>
          <p:nvPr/>
        </p:nvSpPr>
        <p:spPr>
          <a:xfrm>
            <a:off x="6542780" y="2296887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both </a:t>
            </a:r>
            <a:r>
              <a:rPr lang="en-US" dirty="0">
                <a:latin typeface="Helvetica" pitchFamily="2" charset="0"/>
              </a:rPr>
              <a:t>expressions are TRUE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DCB3AF-6094-E7E7-9E7D-F531492729AF}"/>
              </a:ext>
            </a:extLst>
          </p:cNvPr>
          <p:cNvSpPr txBox="1"/>
          <p:nvPr/>
        </p:nvSpPr>
        <p:spPr>
          <a:xfrm>
            <a:off x="6542780" y="3608891"/>
            <a:ext cx="2149044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either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one or the other </a:t>
            </a:r>
            <a:r>
              <a:rPr lang="en-US" dirty="0">
                <a:latin typeface="Helvetica" pitchFamily="2" charset="0"/>
              </a:rPr>
              <a:t>is true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1684236" y="1789216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CE1CE1-1141-D84C-51BF-8E891044F7EB}"/>
              </a:ext>
            </a:extLst>
          </p:cNvPr>
          <p:cNvSpPr txBox="1"/>
          <p:nvPr/>
        </p:nvSpPr>
        <p:spPr>
          <a:xfrm>
            <a:off x="1087250" y="2566798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6DBB56-3C74-B183-988E-DDC9DFB5B222}"/>
              </a:ext>
            </a:extLst>
          </p:cNvPr>
          <p:cNvSpPr txBox="1"/>
          <p:nvPr/>
        </p:nvSpPr>
        <p:spPr>
          <a:xfrm>
            <a:off x="3337719" y="2569588"/>
            <a:ext cx="663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37C71E-DAEE-6686-97B0-69593D854285}"/>
              </a:ext>
            </a:extLst>
          </p:cNvPr>
          <p:cNvSpPr txBox="1"/>
          <p:nvPr/>
        </p:nvSpPr>
        <p:spPr>
          <a:xfrm>
            <a:off x="1081186" y="37483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5DFA86-14E2-40FD-D4AA-195D0EE5DED7}"/>
              </a:ext>
            </a:extLst>
          </p:cNvPr>
          <p:cNvSpPr txBox="1"/>
          <p:nvPr/>
        </p:nvSpPr>
        <p:spPr>
          <a:xfrm>
            <a:off x="2907283" y="5059887"/>
            <a:ext cx="743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0D89D7-1E97-94DF-31DE-B640CDC13604}"/>
              </a:ext>
            </a:extLst>
          </p:cNvPr>
          <p:cNvSpPr txBox="1"/>
          <p:nvPr/>
        </p:nvSpPr>
        <p:spPr>
          <a:xfrm>
            <a:off x="6542780" y="4725639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Checks if the expression if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FALSE or not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81BD8E-81AE-8042-A7C9-A5CD3CC00603}"/>
              </a:ext>
            </a:extLst>
          </p:cNvPr>
          <p:cNvSpPr/>
          <p:nvPr/>
        </p:nvSpPr>
        <p:spPr>
          <a:xfrm>
            <a:off x="3279244" y="3600788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6B9681-2101-EB91-F5E0-FB27D4488356}"/>
              </a:ext>
            </a:extLst>
          </p:cNvPr>
          <p:cNvSpPr/>
          <p:nvPr/>
        </p:nvSpPr>
        <p:spPr>
          <a:xfrm>
            <a:off x="2825634" y="4819616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FD8A43E-A450-63ED-425E-3AE806BB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88A6C2-7C8C-09FA-DAD5-8C2E671BD075}"/>
              </a:ext>
            </a:extLst>
          </p:cNvPr>
          <p:cNvSpPr/>
          <p:nvPr/>
        </p:nvSpPr>
        <p:spPr>
          <a:xfrm>
            <a:off x="3279243" y="2388782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BFE8B92-5E74-0019-B4C5-A329D75040D2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Boolean operators</a:t>
            </a:r>
          </a:p>
        </p:txBody>
      </p:sp>
    </p:spTree>
    <p:extLst>
      <p:ext uri="{BB962C8B-B14F-4D97-AF65-F5344CB8AC3E}">
        <p14:creationId xmlns:p14="http://schemas.microsoft.com/office/powerpoint/2010/main" val="1934570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0D52769-F0C2-CBDE-2612-D5CCF0A7AA49}"/>
              </a:ext>
            </a:extLst>
          </p:cNvPr>
          <p:cNvSpPr/>
          <p:nvPr/>
        </p:nvSpPr>
        <p:spPr>
          <a:xfrm>
            <a:off x="1024932" y="2351312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97A259-4C6B-1FFF-4D1D-8C01D4AACC02}"/>
              </a:ext>
            </a:extLst>
          </p:cNvPr>
          <p:cNvSpPr/>
          <p:nvPr/>
        </p:nvSpPr>
        <p:spPr>
          <a:xfrm>
            <a:off x="1024932" y="3535478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6BF6C-0016-EA5E-9E6C-0A73878B2554}"/>
              </a:ext>
            </a:extLst>
          </p:cNvPr>
          <p:cNvSpPr txBox="1"/>
          <p:nvPr/>
        </p:nvSpPr>
        <p:spPr>
          <a:xfrm>
            <a:off x="2085528" y="263884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BF456-ADE0-3C42-C8BE-55841C89DBEF}"/>
              </a:ext>
            </a:extLst>
          </p:cNvPr>
          <p:cNvSpPr txBox="1"/>
          <p:nvPr/>
        </p:nvSpPr>
        <p:spPr>
          <a:xfrm>
            <a:off x="2179303" y="3793813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915C2-B9BC-9A83-C3A3-3E3338719906}"/>
              </a:ext>
            </a:extLst>
          </p:cNvPr>
          <p:cNvSpPr txBox="1"/>
          <p:nvPr/>
        </p:nvSpPr>
        <p:spPr>
          <a:xfrm>
            <a:off x="1690300" y="4979433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4B1D7-0DE0-10A0-97F9-4E22AF778961}"/>
              </a:ext>
            </a:extLst>
          </p:cNvPr>
          <p:cNvSpPr txBox="1"/>
          <p:nvPr/>
        </p:nvSpPr>
        <p:spPr>
          <a:xfrm>
            <a:off x="1087250" y="2566798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A7DE0D-E377-9268-0A9F-956475FB77E9}"/>
              </a:ext>
            </a:extLst>
          </p:cNvPr>
          <p:cNvSpPr txBox="1"/>
          <p:nvPr/>
        </p:nvSpPr>
        <p:spPr>
          <a:xfrm>
            <a:off x="3337719" y="2569588"/>
            <a:ext cx="663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C13F0-6052-7E59-57F8-462E4C517C7E}"/>
              </a:ext>
            </a:extLst>
          </p:cNvPr>
          <p:cNvSpPr txBox="1"/>
          <p:nvPr/>
        </p:nvSpPr>
        <p:spPr>
          <a:xfrm>
            <a:off x="1081186" y="37483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6D485-CA7D-F97F-F44D-8559C7D495BC}"/>
              </a:ext>
            </a:extLst>
          </p:cNvPr>
          <p:cNvSpPr txBox="1"/>
          <p:nvPr/>
        </p:nvSpPr>
        <p:spPr>
          <a:xfrm>
            <a:off x="2907283" y="5059887"/>
            <a:ext cx="743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36483A-4CFF-CEFF-8782-A7B76C22E584}"/>
              </a:ext>
            </a:extLst>
          </p:cNvPr>
          <p:cNvSpPr/>
          <p:nvPr/>
        </p:nvSpPr>
        <p:spPr>
          <a:xfrm>
            <a:off x="3279244" y="3600788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7A1631-3000-BEF8-0CC1-F056441D71C7}"/>
              </a:ext>
            </a:extLst>
          </p:cNvPr>
          <p:cNvSpPr/>
          <p:nvPr/>
        </p:nvSpPr>
        <p:spPr>
          <a:xfrm>
            <a:off x="2825634" y="4819616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22" name="Content Placeholder 2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9702E7-8CF2-7BA4-7303-5C3A6D3AF0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59946" y="2381631"/>
            <a:ext cx="4473079" cy="2363822"/>
          </a:xfr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784FC7-86C8-F868-B1B2-34ED2FDF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59887"/>
            <a:ext cx="3494475" cy="5601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76672-3F69-75EF-8F94-6C12F6D63223}"/>
              </a:ext>
            </a:extLst>
          </p:cNvPr>
          <p:cNvSpPr/>
          <p:nvPr/>
        </p:nvSpPr>
        <p:spPr>
          <a:xfrm>
            <a:off x="3279243" y="2388782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26BD2-7FD3-142D-561C-D78B14006700}"/>
              </a:ext>
            </a:extLst>
          </p:cNvPr>
          <p:cNvSpPr txBox="1"/>
          <p:nvPr/>
        </p:nvSpPr>
        <p:spPr>
          <a:xfrm>
            <a:off x="1684236" y="1789216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6E917E-2301-D1D7-1B77-C0592287CDBD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 is it like in Python?</a:t>
            </a:r>
          </a:p>
        </p:txBody>
      </p:sp>
    </p:spTree>
    <p:extLst>
      <p:ext uri="{BB962C8B-B14F-4D97-AF65-F5344CB8AC3E}">
        <p14:creationId xmlns:p14="http://schemas.microsoft.com/office/powerpoint/2010/main" val="25920405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3784509" y="3560938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B09C2545-85BF-E1D5-D6DA-4DF2E127D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B0AE915-4D8C-6D03-323D-A8640FB0D82E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Combining operators</a:t>
            </a:r>
          </a:p>
        </p:txBody>
      </p:sp>
    </p:spTree>
    <p:extLst>
      <p:ext uri="{BB962C8B-B14F-4D97-AF65-F5344CB8AC3E}">
        <p14:creationId xmlns:p14="http://schemas.microsoft.com/office/powerpoint/2010/main" val="319051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84583302-46A5-CE5A-A670-2378EE65953C}"/>
              </a:ext>
            </a:extLst>
          </p:cNvPr>
          <p:cNvSpPr/>
          <p:nvPr/>
        </p:nvSpPr>
        <p:spPr>
          <a:xfrm>
            <a:off x="3668616" y="338591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74E14E-FC20-F347-585C-C389E7A597C4}"/>
              </a:ext>
            </a:extLst>
          </p:cNvPr>
          <p:cNvSpPr/>
          <p:nvPr/>
        </p:nvSpPr>
        <p:spPr>
          <a:xfrm>
            <a:off x="4928686" y="3385913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423359FC-EEA7-086D-3FB3-35E14789489F}"/>
              </a:ext>
            </a:extLst>
          </p:cNvPr>
          <p:cNvSpPr/>
          <p:nvPr/>
        </p:nvSpPr>
        <p:spPr>
          <a:xfrm>
            <a:off x="3668616" y="592587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56C3E13-EF93-ABA0-647C-9CA4CA53F17D}"/>
              </a:ext>
            </a:extLst>
          </p:cNvPr>
          <p:cNvSpPr/>
          <p:nvPr/>
        </p:nvSpPr>
        <p:spPr>
          <a:xfrm>
            <a:off x="4928686" y="5925874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EAC0F535-70ED-4D3F-2269-88DCFC880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B1714C-E102-8BD9-820B-9B5EF83E7F19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3537912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D3B4-6B52-0800-51A2-62826191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101F785-3556-504B-67FE-2B7C5320DBE7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71DB8C-F0FB-00E7-B405-10DEAE17F682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C97A48-5089-81E7-F8AA-68ACBB710808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B75DC5-3D24-C716-3FCC-58B53FCF2E24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4F214-29BA-C268-3A56-7D7A2139BE50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3A7108-1E4E-1701-4C16-7267E231FFC0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394B4226-A3BA-445D-0C86-4BF7C40A0A65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76F515BF-BA5A-3979-B08F-B378389438CD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F0571-FAF7-0BE4-B94A-97B4E1185B60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8B16E8EF-40E4-BD10-074A-145151C392D1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5083277-5528-E32B-6D62-534569EF82A5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FA4B6-4C3B-6D07-D6A1-569BB2826F75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98F40156-8F89-B3B1-8E5B-B7FF00483731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25484A-FD95-C8DE-0DF5-910678A39457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9F891B60-3F8A-1AC3-D41F-63970A3C0148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B32871A-2F33-52FF-357D-D710468EAAD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B1AA50C3-5584-9752-956F-C65B66A72E5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393210-DA08-766B-46C6-C43117042AA9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A1941F1E-B7AD-B7B4-AB3C-D1BF3F3603AE}"/>
              </a:ext>
            </a:extLst>
          </p:cNvPr>
          <p:cNvSpPr/>
          <p:nvPr/>
        </p:nvSpPr>
        <p:spPr>
          <a:xfrm>
            <a:off x="3668616" y="338591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2A7D21A-4E71-C841-E92F-B0244E385D56}"/>
              </a:ext>
            </a:extLst>
          </p:cNvPr>
          <p:cNvSpPr/>
          <p:nvPr/>
        </p:nvSpPr>
        <p:spPr>
          <a:xfrm>
            <a:off x="4928686" y="3385913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D29F170E-5ABA-9D2C-9170-98E2CAFB9E26}"/>
              </a:ext>
            </a:extLst>
          </p:cNvPr>
          <p:cNvSpPr/>
          <p:nvPr/>
        </p:nvSpPr>
        <p:spPr>
          <a:xfrm>
            <a:off x="3668616" y="592587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A4873BE-DFAA-D170-87AA-F639180A7D7F}"/>
              </a:ext>
            </a:extLst>
          </p:cNvPr>
          <p:cNvSpPr/>
          <p:nvPr/>
        </p:nvSpPr>
        <p:spPr>
          <a:xfrm>
            <a:off x="4928686" y="5925874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F24A5D12-33D6-4183-4D1C-D00E9611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E9DCF0-67C5-DDEB-0117-DA1D0416E906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 out in our IDE!</a:t>
            </a:r>
          </a:p>
        </p:txBody>
      </p:sp>
    </p:spTree>
    <p:extLst>
      <p:ext uri="{BB962C8B-B14F-4D97-AF65-F5344CB8AC3E}">
        <p14:creationId xmlns:p14="http://schemas.microsoft.com/office/powerpoint/2010/main" val="2331630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5968-F4F9-25EB-57E0-D19A5568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7722D9C-1D14-3E2B-AF5F-900AFF60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6B417-9A07-30E0-7D89-295A9548A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48" y="2572974"/>
            <a:ext cx="6317631" cy="244779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2695A45-A694-6FD2-EE50-7C76658AAF98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 out in our IDE!</a:t>
            </a:r>
          </a:p>
        </p:txBody>
      </p:sp>
    </p:spTree>
    <p:extLst>
      <p:ext uri="{BB962C8B-B14F-4D97-AF65-F5344CB8AC3E}">
        <p14:creationId xmlns:p14="http://schemas.microsoft.com/office/powerpoint/2010/main" val="4059385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5452854" y="1898005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5376327" y="2521985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5452854" y="4391407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2824523" y="1361363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2839980" y="1827016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2839980" y="2646960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5376327" y="5153149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107778" y="1814588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107778" y="2646960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2824523" y="4418367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2824523" y="5238311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092321" y="4405939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092321" y="5238311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84583302-46A5-CE5A-A670-2378EE65953C}"/>
              </a:ext>
            </a:extLst>
          </p:cNvPr>
          <p:cNvSpPr/>
          <p:nvPr/>
        </p:nvSpPr>
        <p:spPr>
          <a:xfrm>
            <a:off x="2824522" y="3436728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74E14E-FC20-F347-585C-C389E7A597C4}"/>
              </a:ext>
            </a:extLst>
          </p:cNvPr>
          <p:cNvSpPr/>
          <p:nvPr/>
        </p:nvSpPr>
        <p:spPr>
          <a:xfrm>
            <a:off x="4084592" y="3436728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423359FC-EEA7-086D-3FB3-35E14789489F}"/>
              </a:ext>
            </a:extLst>
          </p:cNvPr>
          <p:cNvSpPr/>
          <p:nvPr/>
        </p:nvSpPr>
        <p:spPr>
          <a:xfrm>
            <a:off x="2824522" y="5976689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56C3E13-EF93-ABA0-647C-9CA4CA53F17D}"/>
              </a:ext>
            </a:extLst>
          </p:cNvPr>
          <p:cNvSpPr/>
          <p:nvPr/>
        </p:nvSpPr>
        <p:spPr>
          <a:xfrm>
            <a:off x="4084592" y="5976689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DDB83-506A-0AFC-E28C-1A34B5354CCF}"/>
              </a:ext>
            </a:extLst>
          </p:cNvPr>
          <p:cNvSpPr txBox="1"/>
          <p:nvPr/>
        </p:nvSpPr>
        <p:spPr>
          <a:xfrm>
            <a:off x="5452853" y="3332036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ABE96-98D5-ECB8-0024-B146FD012EB3}"/>
              </a:ext>
            </a:extLst>
          </p:cNvPr>
          <p:cNvSpPr txBox="1"/>
          <p:nvPr/>
        </p:nvSpPr>
        <p:spPr>
          <a:xfrm>
            <a:off x="5376327" y="5914891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1FA6F-21E4-2051-6F85-CE3942C12A9C}"/>
              </a:ext>
            </a:extLst>
          </p:cNvPr>
          <p:cNvSpPr txBox="1"/>
          <p:nvPr/>
        </p:nvSpPr>
        <p:spPr>
          <a:xfrm>
            <a:off x="6644125" y="2322758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both </a:t>
            </a:r>
            <a:r>
              <a:rPr lang="en-US" dirty="0">
                <a:latin typeface="Helvetica" pitchFamily="2" charset="0"/>
              </a:rPr>
              <a:t>expressions are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FB0521-5E49-9157-D058-4B0CEFEC4EE8}"/>
              </a:ext>
            </a:extLst>
          </p:cNvPr>
          <p:cNvSpPr txBox="1"/>
          <p:nvPr/>
        </p:nvSpPr>
        <p:spPr>
          <a:xfrm>
            <a:off x="6651854" y="5383981"/>
            <a:ext cx="2149044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either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one or the other </a:t>
            </a:r>
            <a:r>
              <a:rPr lang="en-US" dirty="0">
                <a:latin typeface="Helvetica" pitchFamily="2" charset="0"/>
              </a:rPr>
              <a:t>is true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CFEE28EC-84B4-CE2A-3AFD-CB71D10D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0750055-A8B6-1E9E-9498-0195FC11492E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32533585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Conditionals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971BE-CD0D-0AAD-3084-4D296B424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696" y="2064854"/>
            <a:ext cx="2270415" cy="2270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95423-6478-6B2D-9CAF-4D275CB989F0}"/>
              </a:ext>
            </a:extLst>
          </p:cNvPr>
          <p:cNvSpPr txBox="1"/>
          <p:nvPr/>
        </p:nvSpPr>
        <p:spPr>
          <a:xfrm>
            <a:off x="4938502" y="2609054"/>
            <a:ext cx="2869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Command used to </a:t>
            </a:r>
          </a:p>
          <a:p>
            <a:pPr algn="ctr"/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make a decision </a:t>
            </a:r>
            <a:r>
              <a:rPr lang="en-US" sz="2000" dirty="0">
                <a:latin typeface="Helvetica Light" panose="020B0403020202020204" pitchFamily="34" charset="0"/>
              </a:rPr>
              <a:t>and specify what to do in each case </a:t>
            </a:r>
          </a:p>
        </p:txBody>
      </p:sp>
      <p:pic>
        <p:nvPicPr>
          <p:cNvPr id="10" name="Picture 9" descr="A close-up of black text&#10;&#10;Description automatically generated">
            <a:extLst>
              <a:ext uri="{FF2B5EF4-FFF2-40B4-BE49-F238E27FC236}">
                <a16:creationId xmlns:a16="http://schemas.microsoft.com/office/drawing/2014/main" id="{D0F6E755-A896-6796-37A9-BF1F5F16C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348" y="4853156"/>
            <a:ext cx="3267304" cy="1359017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64386D6-3118-6AD8-00F1-DC6AAC41D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58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Conditionals</a:t>
            </a:r>
          </a:p>
        </p:txBody>
      </p:sp>
      <p:pic>
        <p:nvPicPr>
          <p:cNvPr id="10" name="Picture 9" descr="A close-up of black text&#10;&#10;Description automatically generated">
            <a:extLst>
              <a:ext uri="{FF2B5EF4-FFF2-40B4-BE49-F238E27FC236}">
                <a16:creationId xmlns:a16="http://schemas.microsoft.com/office/drawing/2014/main" id="{D0F6E755-A896-6796-37A9-BF1F5F16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29000"/>
            <a:ext cx="3267304" cy="13590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4286992" y="1833135"/>
            <a:ext cx="4678878" cy="424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This is known as an “if statement”: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You can even have an “else if” statement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For example: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Positive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Zero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Negative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We want to determine what it is!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5494A21-C8A4-A6D3-3B94-566F4976D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21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E7223680-DC6E-DCDC-8D26-FE3FA1671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674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5D13044-5CD3-5F6F-D76E-BE6EBBC33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5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BC01B8A5-5C15-B4BC-5BFB-B4BE3459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96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DC113-0734-626C-ABEF-EBD82D9A4C23}"/>
              </a:ext>
            </a:extLst>
          </p:cNvPr>
          <p:cNvSpPr txBox="1"/>
          <p:nvPr/>
        </p:nvSpPr>
        <p:spPr>
          <a:xfrm>
            <a:off x="6040119" y="3749773"/>
            <a:ext cx="2672526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0ACA7DF-4C98-273E-03F2-9977FE46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889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DC113-0734-626C-ABEF-EBD82D9A4C23}"/>
              </a:ext>
            </a:extLst>
          </p:cNvPr>
          <p:cNvSpPr txBox="1"/>
          <p:nvPr/>
        </p:nvSpPr>
        <p:spPr>
          <a:xfrm>
            <a:off x="6040119" y="3749773"/>
            <a:ext cx="2672526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C6569-5270-2036-6364-5924F351648B}"/>
              </a:ext>
            </a:extLst>
          </p:cNvPr>
          <p:cNvSpPr txBox="1"/>
          <p:nvPr/>
        </p:nvSpPr>
        <p:spPr>
          <a:xfrm>
            <a:off x="2671620" y="5548579"/>
            <a:ext cx="33759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This works… but it could be better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DEA1912C-9075-D546-799E-D117D3331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068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775119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C3C2804-CB2D-EE04-B9BB-B8DC1F495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19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860848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769A90B-C9E4-44CC-CD73-44E309A6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266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5C660951-282F-3AF0-2FBF-76A0A9510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594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ED3E373-469A-8E0E-B086-CCA39F00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974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0681E-7B17-ED49-7000-73DC5F3D69FF}"/>
              </a:ext>
            </a:extLst>
          </p:cNvPr>
          <p:cNvSpPr/>
          <p:nvPr/>
        </p:nvSpPr>
        <p:spPr>
          <a:xfrm>
            <a:off x="814157" y="3883231"/>
            <a:ext cx="2178425" cy="48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96A919B9-0E4D-6D9E-1C07-7F111CB7A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382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How does order matter?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809447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 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4571998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EB006FBA-6BD1-7353-44CD-2FAD9EE5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428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BDD7F0-6B26-130A-CEB1-C2876E5EDAD6}"/>
              </a:ext>
            </a:extLst>
          </p:cNvPr>
          <p:cNvSpPr/>
          <p:nvPr/>
        </p:nvSpPr>
        <p:spPr>
          <a:xfrm>
            <a:off x="814157" y="4512623"/>
            <a:ext cx="3520337" cy="763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C39367F7-A572-2D73-EC74-D603A3DF4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594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3016540" y="3868387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3059476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A5B3DA0E-D49F-29FA-5089-518C8E9CD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769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3016540" y="3868387"/>
            <a:ext cx="3005951" cy="2586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print(“Error!”)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3059476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84B972E9-042E-7A25-FD7C-FA6ECD0A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310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2597811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FE8D6-D193-8985-57A0-C59AF9648D5D}"/>
              </a:ext>
            </a:extLst>
          </p:cNvPr>
          <p:cNvSpPr txBox="1"/>
          <p:nvPr/>
        </p:nvSpPr>
        <p:spPr>
          <a:xfrm>
            <a:off x="3016542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451FD-52D0-6C77-4B05-47E48887E4A6}"/>
              </a:ext>
            </a:extLst>
          </p:cNvPr>
          <p:cNvSpPr txBox="1"/>
          <p:nvPr/>
        </p:nvSpPr>
        <p:spPr>
          <a:xfrm>
            <a:off x="2197145" y="3059540"/>
            <a:ext cx="2364750" cy="3417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&gt;= 0) Then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print(“Error!)</a:t>
            </a: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EC9A4AC7-E5FE-8ED7-8CE2-673D5DD0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20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DFC47422-2570-1088-BFFA-64D5F262D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07" y="1825627"/>
            <a:ext cx="3622486" cy="435133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F44C-98A5-FA1D-0152-E7C277E62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While x is true do</a:t>
            </a:r>
          </a:p>
          <a:p>
            <a:pPr marL="457088" lvl="1" indent="0">
              <a:buNone/>
            </a:pPr>
            <a:r>
              <a:rPr lang="en-CA" sz="2798" dirty="0"/>
              <a:t>(Event)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r>
              <a:rPr lang="en-CA" dirty="0"/>
              <a:t>While (space has ball){</a:t>
            </a:r>
          </a:p>
          <a:p>
            <a:pPr marL="0" indent="0">
              <a:buNone/>
            </a:pPr>
            <a:r>
              <a:rPr lang="en-CA" dirty="0"/>
              <a:t>	Move forward</a:t>
            </a:r>
          </a:p>
          <a:p>
            <a:pPr marL="0" indent="0">
              <a:buNone/>
            </a:pPr>
            <a:r>
              <a:rPr lang="en-CA" dirty="0"/>
              <a:t>End While</a:t>
            </a:r>
          </a:p>
          <a:p>
            <a:endParaRPr lang="en-CA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F90862F5-9E78-F60E-A4C3-926157E7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99" t="28435" r="27778" b="64742"/>
          <a:stretch/>
        </p:blipFill>
        <p:spPr>
          <a:xfrm>
            <a:off x="3004456" y="3351808"/>
            <a:ext cx="370363" cy="296883"/>
          </a:xfrm>
          <a:prstGeom prst="rect">
            <a:avLst/>
          </a:prstGeom>
          <a:noFill/>
        </p:spPr>
      </p:pic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B9DC48B5-BC49-D750-E7A0-ED9CD1321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15E2D44-64DA-F120-AD1D-C7E58465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Conditional with a loop</a:t>
            </a:r>
          </a:p>
        </p:txBody>
      </p:sp>
    </p:spTree>
    <p:extLst>
      <p:ext uri="{BB962C8B-B14F-4D97-AF65-F5344CB8AC3E}">
        <p14:creationId xmlns:p14="http://schemas.microsoft.com/office/powerpoint/2010/main" val="14225306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F44C-98A5-FA1D-0152-E7C277E62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71113-0E6A-6FC2-1893-D0E33586BC16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617B4-828B-7BC4-4607-1DA2ACBBA5E8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3248180E-48F3-3D3A-6C2D-1AC962762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A097B4-1782-F8A2-E961-20C6E7EAEC26}"/>
              </a:ext>
            </a:extLst>
          </p:cNvPr>
          <p:cNvSpPr/>
          <p:nvPr/>
        </p:nvSpPr>
        <p:spPr>
          <a:xfrm>
            <a:off x="628650" y="3799114"/>
            <a:ext cx="8352064" cy="2401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01E2D79-AFDF-4D7C-05B0-63C6EBA4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While loops…</a:t>
            </a:r>
          </a:p>
        </p:txBody>
      </p:sp>
    </p:spTree>
    <p:extLst>
      <p:ext uri="{BB962C8B-B14F-4D97-AF65-F5344CB8AC3E}">
        <p14:creationId xmlns:p14="http://schemas.microsoft.com/office/powerpoint/2010/main" val="24730129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F19C6-08CA-7E27-787A-8663BF73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33AC-A920-88B5-D256-D245837E5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522AE-F477-2208-0A9B-3F7FFA6604F9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141DE-7DCB-8456-CC37-623769D87109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D479177-59AF-EEDA-8C15-A1426D47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3AC2B2-7BAB-EC2E-48B7-F112B90B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8234606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… can create infinite conditions</a:t>
            </a:r>
          </a:p>
        </p:txBody>
      </p:sp>
    </p:spTree>
    <p:extLst>
      <p:ext uri="{BB962C8B-B14F-4D97-AF65-F5344CB8AC3E}">
        <p14:creationId xmlns:p14="http://schemas.microsoft.com/office/powerpoint/2010/main" val="202531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CF16-3935-4365-8762-689894BB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FCC3-9649-8F85-55CF-04A6736A2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7B62F-714D-245F-F0BD-16CA639F720F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C9B40-6360-C53B-B9B8-5E357BACCDB9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2DAF45A2-87E8-0C72-CE9A-EFFD5C10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7B3D7D-E5E3-E771-B162-33CEDF17289E}"/>
              </a:ext>
            </a:extLst>
          </p:cNvPr>
          <p:cNvSpPr/>
          <p:nvPr/>
        </p:nvSpPr>
        <p:spPr>
          <a:xfrm>
            <a:off x="1571009" y="2086098"/>
            <a:ext cx="6519799" cy="3603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000" dirty="0"/>
              <a:t>Try it yourself! Just be sure to hit the stop button or be ready to lose your webpage!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FCACDC6-6B7F-2983-77BC-F63A8B46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8416496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… can create infinite conditions</a:t>
            </a:r>
          </a:p>
        </p:txBody>
      </p:sp>
    </p:spTree>
    <p:extLst>
      <p:ext uri="{BB962C8B-B14F-4D97-AF65-F5344CB8AC3E}">
        <p14:creationId xmlns:p14="http://schemas.microsoft.com/office/powerpoint/2010/main" val="32972221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492D-1E12-5A6D-8800-0D0E88AA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A451-8A8A-C684-9713-4E9857BB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3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Functions and 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Data Structures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A88437DA-CF36-D532-AA1D-C268341F2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6DDCD58-0F1F-1F34-E7F5-63837C706EB0}"/>
              </a:ext>
            </a:extLst>
          </p:cNvPr>
          <p:cNvSpPr txBox="1">
            <a:spLocks/>
          </p:cNvSpPr>
          <p:nvPr/>
        </p:nvSpPr>
        <p:spPr>
          <a:xfrm>
            <a:off x="2384854" y="3283168"/>
            <a:ext cx="6125734" cy="28527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CA" sz="3200" dirty="0"/>
              <a:t>or... what if we know we want to do a set of actions but not as a loop? </a:t>
            </a:r>
          </a:p>
        </p:txBody>
      </p:sp>
    </p:spTree>
    <p:extLst>
      <p:ext uri="{BB962C8B-B14F-4D97-AF65-F5344CB8AC3E}">
        <p14:creationId xmlns:p14="http://schemas.microsoft.com/office/powerpoint/2010/main" val="14542237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DB8087-3AB0-19FA-17B8-4C91AB2A8102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38598674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  <a:p>
            <a:r>
              <a:rPr lang="en-CA" dirty="0"/>
              <a:t>How to find the mean? </a:t>
            </a:r>
          </a:p>
          <a:p>
            <a:pPr lvl="1"/>
            <a:r>
              <a:rPr lang="en-CA" dirty="0"/>
              <a:t>Take the sum of the array and divide by the length</a:t>
            </a:r>
          </a:p>
          <a:p>
            <a:pPr marL="457088" lvl="1" indent="0">
              <a:buNone/>
            </a:pPr>
            <a:r>
              <a:rPr lang="en-CA" dirty="0"/>
              <a:t>Or…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7A1FA64-8E9A-C0FF-C30E-F1D40C44EA7C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12474676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  <a:p>
            <a:r>
              <a:rPr lang="en-CA" dirty="0"/>
              <a:t>How to find the mean? </a:t>
            </a:r>
          </a:p>
          <a:p>
            <a:pPr lvl="1"/>
            <a:r>
              <a:rPr lang="en-CA" dirty="0"/>
              <a:t>Take the sum of the array and divide by the length</a:t>
            </a:r>
          </a:p>
          <a:p>
            <a:pPr marL="457088" lvl="1" indent="0">
              <a:buNone/>
            </a:pPr>
            <a:r>
              <a:rPr lang="en-CA" dirty="0"/>
              <a:t>Or…</a:t>
            </a:r>
          </a:p>
          <a:p>
            <a:pPr marL="457088" lvl="1" indent="0">
              <a:buNone/>
            </a:pPr>
            <a:r>
              <a:rPr lang="en-CA" dirty="0"/>
              <a:t>mean(array)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53E2AB0-13C7-9E86-7D4C-11D40E5C4FB2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4443836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Functions allow us to do a series of commands</a:t>
            </a:r>
          </a:p>
          <a:p>
            <a:r>
              <a:rPr lang="en-CA" dirty="0"/>
              <a:t>Instead of writing out</a:t>
            </a:r>
          </a:p>
          <a:p>
            <a:pPr lvl="1"/>
            <a:r>
              <a:rPr lang="en-CA" dirty="0"/>
              <a:t>Sum(numbers)/length(numbers)</a:t>
            </a:r>
          </a:p>
          <a:p>
            <a:pPr lvl="1"/>
            <a:r>
              <a:rPr lang="en-CA" dirty="0"/>
              <a:t>We just need to write mean(numbers)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dirty="0"/>
              <a:t>Mean is a common function found in most languages or through a library of functions </a:t>
            </a:r>
            <a:r>
              <a:rPr lang="en-CA" dirty="0">
                <a:sym typeface="Wingdings" pitchFamily="2" charset="2"/>
              </a:rPr>
              <a:t></a:t>
            </a:r>
            <a:r>
              <a:rPr lang="en-CA" dirty="0"/>
              <a:t> stats functions can be found in a “statistics” library for example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6C90F4-3026-585E-152F-9DF71DBB20BA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32380008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6D23-58B9-01C3-AEBE-DE028BF0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Functions!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BE94-BAB8-517C-C4E1-1C6D2ED803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Most functions will take some prior information called “arguments”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And will output some return values</a:t>
            </a:r>
          </a:p>
          <a:p>
            <a:endParaRPr lang="en-CA" dirty="0"/>
          </a:p>
          <a:p>
            <a:r>
              <a:rPr lang="en-CA" dirty="0"/>
              <a:t>You can even make your own functions!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C8BEA-4AC6-470E-8B3C-1A8A11540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229" y="2636951"/>
            <a:ext cx="4813407" cy="204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342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607D-A235-85F1-89B5-AA3836F0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We’re going to try it now!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44EA7C-3738-DBA4-E5A2-696563E58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We’re going to import some packages in Python!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u="sng" dirty="0"/>
              <a:t>Random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Now let’s find the average!</a:t>
            </a:r>
          </a:p>
        </p:txBody>
      </p:sp>
      <p:pic>
        <p:nvPicPr>
          <p:cNvPr id="11" name="Picture 10" descr="A close-up of a website&#10;&#10;AI-generated content may be incorrect.">
            <a:extLst>
              <a:ext uri="{FF2B5EF4-FFF2-40B4-BE49-F238E27FC236}">
                <a16:creationId xmlns:a16="http://schemas.microsoft.com/office/drawing/2014/main" id="{2C935372-9D0F-751F-A124-84FBA03B0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430" y="3047887"/>
            <a:ext cx="6771135" cy="190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237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C759-BA35-5DA9-5A05-76D76640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Commenting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BB290-BC22-DA0D-3FBD-0764D2D6E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74555"/>
            <a:ext cx="7969827" cy="2853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Sometimes code is hard to read if you don’t know what the coder wants/is doing</a:t>
            </a:r>
          </a:p>
          <a:p>
            <a:pPr marL="0" indent="0">
              <a:buNone/>
            </a:pPr>
            <a:r>
              <a:rPr lang="en-CA" dirty="0"/>
              <a:t>Commenting is KEY</a:t>
            </a:r>
          </a:p>
          <a:p>
            <a:r>
              <a:rPr lang="en-CA" dirty="0"/>
              <a:t>For example, guessing a secret number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662DE-11DA-0ADE-A66B-7C690EF38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4427805"/>
            <a:ext cx="7886700" cy="174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# &lt;- This in general is the symbol for a comment – it tells the program complier to ignore the following message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6E0357C6-0814-3359-BF73-F0C017EB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796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6A6D8A9-2DD6-E376-E85B-DFBC1680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3" y="1750422"/>
            <a:ext cx="8958754" cy="335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62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D929-5AE7-FFE9-2A70-486AB634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Hands On!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1DDA-AABC-48A7-4F7D-CBF3184AF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690688"/>
            <a:ext cx="7886702" cy="4411938"/>
          </a:xfrm>
        </p:spPr>
        <p:txBody>
          <a:bodyPr>
            <a:normAutofit/>
          </a:bodyPr>
          <a:lstStyle/>
          <a:p>
            <a:r>
              <a:rPr lang="en-CA" dirty="0"/>
              <a:t>Use the Python tab!</a:t>
            </a:r>
          </a:p>
          <a:p>
            <a:endParaRPr lang="en-CA" dirty="0"/>
          </a:p>
          <a:p>
            <a:r>
              <a:rPr lang="en-CA" dirty="0"/>
              <a:t>Read comments to learn what the guess should be</a:t>
            </a:r>
          </a:p>
          <a:p>
            <a:endParaRPr lang="en-CA" dirty="0"/>
          </a:p>
          <a:p>
            <a:r>
              <a:rPr lang="en-CA" dirty="0"/>
              <a:t>Run the program first</a:t>
            </a:r>
          </a:p>
          <a:p>
            <a:pPr lvl="1"/>
            <a:r>
              <a:rPr lang="en-CA" dirty="0"/>
              <a:t>Try with an incorrect guess</a:t>
            </a:r>
          </a:p>
          <a:p>
            <a:pPr lvl="1"/>
            <a:r>
              <a:rPr lang="en-CA" dirty="0"/>
              <a:t>Then try with the correct guess</a:t>
            </a:r>
            <a:br>
              <a:rPr lang="en-CA" dirty="0"/>
            </a:br>
            <a:endParaRPr lang="en-CA" dirty="0"/>
          </a:p>
          <a:p>
            <a:r>
              <a:rPr lang="en-CA" dirty="0"/>
              <a:t>Change the secret number</a:t>
            </a:r>
          </a:p>
          <a:p>
            <a:pPr lvl="1"/>
            <a:endParaRPr lang="en-CA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053AA42D-3405-6EDE-C8E4-3719E1CF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159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24EB-3E23-A785-95DE-CE3DCD4D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853F-C1DF-41A9-0DAF-974DA45B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5C2E9-6B4C-E244-AEEB-9515893040B8}"/>
              </a:ext>
            </a:extLst>
          </p:cNvPr>
          <p:cNvSpPr txBox="1"/>
          <p:nvPr/>
        </p:nvSpPr>
        <p:spPr>
          <a:xfrm>
            <a:off x="4392117" y="3079704"/>
            <a:ext cx="3531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Specific </a:t>
            </a:r>
            <a:r>
              <a:rPr lang="en-US" sz="2000" dirty="0">
                <a:highlight>
                  <a:srgbClr val="13A89E"/>
                </a:highlight>
                <a:latin typeface="Helvetica Light" panose="020B0403020202020204" pitchFamily="34" charset="0"/>
              </a:rPr>
              <a:t>storage formats </a:t>
            </a:r>
            <a:r>
              <a:rPr lang="en-US" sz="2000" dirty="0">
                <a:latin typeface="Helvetica Light" panose="020B0403020202020204" pitchFamily="34" charset="0"/>
              </a:rPr>
              <a:t>designed for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efficient</a:t>
            </a:r>
            <a:r>
              <a:rPr lang="en-US" sz="2000" dirty="0">
                <a:latin typeface="Helvetica Light" panose="020B0403020202020204" pitchFamily="34" charset="0"/>
              </a:rPr>
              <a:t> data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access and management</a:t>
            </a:r>
            <a:endParaRPr lang="en-US" sz="2000" dirty="0">
              <a:latin typeface="Helvetica Light" panose="020B04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083D1-AED6-5F3B-ED18-4904EDD6CAC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853501" y="2155205"/>
            <a:ext cx="2864663" cy="2864663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FE4269F1-6232-1B35-9D75-B9437B9EF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70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This gets tricky depending on the language you use</a:t>
            </a:r>
          </a:p>
          <a:p>
            <a:endParaRPr lang="en-CA" dirty="0"/>
          </a:p>
          <a:p>
            <a:r>
              <a:rPr lang="en-CA" dirty="0"/>
              <a:t>But in general – let’s say that you have a bunch of variables all involving a single patient</a:t>
            </a:r>
          </a:p>
          <a:p>
            <a:endParaRPr lang="en-CA" dirty="0"/>
          </a:p>
          <a:p>
            <a:pPr lvl="1"/>
            <a:r>
              <a:rPr lang="en-CA" dirty="0"/>
              <a:t>Name</a:t>
            </a:r>
          </a:p>
          <a:p>
            <a:pPr lvl="1"/>
            <a:r>
              <a:rPr lang="en-CA" dirty="0"/>
              <a:t>BMI</a:t>
            </a:r>
          </a:p>
          <a:p>
            <a:pPr lvl="1"/>
            <a:r>
              <a:rPr lang="en-CA" dirty="0"/>
              <a:t>Age</a:t>
            </a:r>
          </a:p>
          <a:p>
            <a:pPr lvl="1"/>
            <a:r>
              <a:rPr lang="en-CA" dirty="0"/>
              <a:t>Sex</a:t>
            </a:r>
          </a:p>
          <a:p>
            <a:pPr lvl="1"/>
            <a:r>
              <a:rPr lang="en-CA" dirty="0"/>
              <a:t>Illness status 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D845209-EF1E-3171-69A1-6E8CCDEC0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170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Lists work great when you have different variables</a:t>
            </a:r>
          </a:p>
          <a:p>
            <a:endParaRPr lang="en-CA" dirty="0"/>
          </a:p>
          <a:p>
            <a:pPr lvl="1"/>
            <a:r>
              <a:rPr lang="en-CA" dirty="0"/>
              <a:t>Name – String </a:t>
            </a:r>
          </a:p>
          <a:p>
            <a:pPr lvl="1"/>
            <a:r>
              <a:rPr lang="en-CA" dirty="0"/>
              <a:t>BMI – Double/Float/Real</a:t>
            </a:r>
          </a:p>
          <a:p>
            <a:pPr lvl="1"/>
            <a:r>
              <a:rPr lang="en-CA" dirty="0"/>
              <a:t>Age – Integer </a:t>
            </a:r>
          </a:p>
          <a:p>
            <a:pPr lvl="1"/>
            <a:r>
              <a:rPr lang="en-CA" dirty="0"/>
              <a:t>Sex – String or Boolean (How!?!?!)</a:t>
            </a:r>
          </a:p>
          <a:p>
            <a:pPr lvl="1"/>
            <a:r>
              <a:rPr lang="en-CA" dirty="0"/>
              <a:t>Illness status – String, Boolean, or Integer?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E22667C7-70BA-DD6B-93AB-D6EDBA995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429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AF1B-BC5B-C4F9-0E61-AEF129F6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39E7-427B-9C82-2D82-7A4C0A8B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C43FDE4B-707F-7862-D08C-6948F312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08CEEB-36CD-C7D8-66C5-70DFD9387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9" y="2168434"/>
            <a:ext cx="9004042" cy="25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565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Depending on the language of choice, these are change in slight definition/usage</a:t>
            </a:r>
          </a:p>
          <a:p>
            <a:endParaRPr lang="en-CA" dirty="0"/>
          </a:p>
          <a:p>
            <a:r>
              <a:rPr lang="en-CA" dirty="0"/>
              <a:t>In general:</a:t>
            </a:r>
          </a:p>
          <a:p>
            <a:pPr lvl="1"/>
            <a:r>
              <a:rPr lang="en-CA" dirty="0"/>
              <a:t>These only store elements of the same type</a:t>
            </a:r>
          </a:p>
          <a:p>
            <a:pPr lvl="1"/>
            <a:endParaRPr lang="en-CA" dirty="0"/>
          </a:p>
          <a:p>
            <a:r>
              <a:rPr lang="en-CA" dirty="0"/>
              <a:t>If you have 12 patients, you can record their ages</a:t>
            </a:r>
          </a:p>
          <a:p>
            <a:pPr lvl="1"/>
            <a:r>
              <a:rPr lang="en-CA" dirty="0"/>
              <a:t>26, 19, 70, 45, 66, 19, 23, 25, 4, 0, 22, 26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C673AEB-369A-4611-5707-68404AEC7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937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D0CEF-51B5-C6BF-817C-00EB7472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7587-9646-829D-ADAC-362E5BE2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DEBBA92-930E-9B6B-DD45-00B663DE3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819F8-926E-C4EB-FA04-E1143EB49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21" y="2194560"/>
            <a:ext cx="9153242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072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These are not forced to be just 1 dimensional</a:t>
            </a:r>
            <a:br>
              <a:rPr lang="en-CA" dirty="0"/>
            </a:br>
            <a:endParaRPr lang="en-CA" dirty="0"/>
          </a:p>
          <a:p>
            <a:r>
              <a:rPr lang="en-CA" dirty="0"/>
              <a:t>Sometimes these are called </a:t>
            </a:r>
            <a:r>
              <a:rPr lang="en-CA" dirty="0" err="1"/>
              <a:t>dataframes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Rows are individual patients</a:t>
            </a:r>
          </a:p>
          <a:p>
            <a:pPr lvl="1"/>
            <a:r>
              <a:rPr lang="en-CA" dirty="0"/>
              <a:t>Columns are different variables: age, sex, illness, etc.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87FD2F7-07D7-32AE-5D98-B18290BAE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977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548CA-DAED-9A90-C36B-5364EE9D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1ACC-772D-E34F-C98C-9EF243E2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9A0A-1212-D197-82DB-1D6ED752D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These are not forced to be just 1 dimensional</a:t>
            </a:r>
            <a:br>
              <a:rPr lang="en-CA" dirty="0"/>
            </a:br>
            <a:endParaRPr lang="en-CA" dirty="0"/>
          </a:p>
          <a:p>
            <a:r>
              <a:rPr lang="en-CA" dirty="0"/>
              <a:t>Sometimes these are called </a:t>
            </a:r>
            <a:r>
              <a:rPr lang="en-CA" dirty="0" err="1"/>
              <a:t>dataframes</a:t>
            </a:r>
            <a:r>
              <a:rPr lang="en-CA" dirty="0"/>
              <a:t>:</a:t>
            </a:r>
            <a:br>
              <a:rPr lang="en-CA" dirty="0"/>
            </a:br>
            <a:endParaRPr lang="en-CA" dirty="0"/>
          </a:p>
          <a:p>
            <a:pPr lvl="1"/>
            <a:r>
              <a:rPr lang="en-CA" dirty="0"/>
              <a:t>Rows are individual patients</a:t>
            </a: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8C3020-E96C-3FD9-DDAC-A796297A5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74AFD-F722-9643-BA5C-A67A35081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61" y="3429000"/>
            <a:ext cx="4131262" cy="25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769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BA4E-19FB-D45E-5AFD-041B1C00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480C-BA72-011E-DDD5-FA722E4B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numbers = [1,2,3,4]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When you want to grab an element from an array you can type: numbers[</a:t>
            </a:r>
            <a:r>
              <a:rPr lang="en-CA" dirty="0" err="1"/>
              <a:t>i</a:t>
            </a:r>
            <a:r>
              <a:rPr lang="en-CA" dirty="0"/>
              <a:t>]</a:t>
            </a:r>
            <a:br>
              <a:rPr lang="en-CA" dirty="0"/>
            </a:br>
            <a:br>
              <a:rPr lang="en-CA" dirty="0"/>
            </a:br>
            <a:r>
              <a:rPr lang="en-CA" dirty="0"/>
              <a:t>BUT many programs (like Python) start at position 0</a:t>
            </a:r>
            <a:br>
              <a:rPr lang="en-CA" dirty="0"/>
            </a:br>
            <a:r>
              <a:rPr lang="en-CA" dirty="0"/>
              <a:t>(zero-based indexing)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F5F681B-31E1-E201-682B-E6DE54890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782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BA4E-19FB-D45E-5AFD-041B1C00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480C-BA72-011E-DDD5-FA722E4B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numbers = [1,2,3,4]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When you want to grab an element from an array you can type: numbers[</a:t>
            </a:r>
            <a:r>
              <a:rPr lang="en-CA" dirty="0" err="1"/>
              <a:t>i</a:t>
            </a:r>
            <a:r>
              <a:rPr lang="en-CA" dirty="0"/>
              <a:t>]</a:t>
            </a:r>
            <a:br>
              <a:rPr lang="en-CA" dirty="0"/>
            </a:br>
            <a:br>
              <a:rPr lang="en-CA" dirty="0"/>
            </a:br>
            <a:r>
              <a:rPr lang="en-CA" dirty="0"/>
              <a:t>BUT many programs (like Python) start at position 0</a:t>
            </a:r>
            <a:br>
              <a:rPr lang="en-CA" dirty="0"/>
            </a:br>
            <a:r>
              <a:rPr lang="en-CA" dirty="0"/>
              <a:t>(zero-based indexing)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Numbers[1] </a:t>
            </a:r>
            <a:r>
              <a:rPr lang="en-CA" dirty="0">
                <a:sym typeface="Wingdings" pitchFamily="2" charset="2"/>
              </a:rPr>
              <a:t></a:t>
            </a:r>
            <a:r>
              <a:rPr lang="en-CA" dirty="0"/>
              <a:t> 2, not 1</a:t>
            </a:r>
          </a:p>
          <a:p>
            <a:pPr marL="0" indent="0">
              <a:buNone/>
            </a:pPr>
            <a:r>
              <a:rPr lang="en-CA" dirty="0"/>
              <a:t>Numbers[0] </a:t>
            </a:r>
            <a:r>
              <a:rPr lang="en-CA" dirty="0">
                <a:sym typeface="Wingdings" pitchFamily="2" charset="2"/>
              </a:rPr>
              <a:t> 1</a:t>
            </a: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C5177563-70FF-DF4C-A64C-F801EA092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734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5B0D-5492-7F12-FBE7-1CE86FD2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Final hands-on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F1181-10DE-E598-0790-73A49C082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On the IDE from </a:t>
            </a:r>
            <a:r>
              <a:rPr lang="en-CA" dirty="0">
                <a:hlinkClick r:id="rId2"/>
              </a:rPr>
              <a:t>https://codehs.com/ide</a:t>
            </a:r>
            <a:endParaRPr lang="en-CA" dirty="0"/>
          </a:p>
          <a:p>
            <a:r>
              <a:rPr lang="en-CA" dirty="0"/>
              <a:t>Turn </a:t>
            </a:r>
            <a:r>
              <a:rPr lang="en-CA" dirty="0" err="1"/>
              <a:t>my_number</a:t>
            </a:r>
            <a:r>
              <a:rPr lang="en-CA" dirty="0"/>
              <a:t> into an array with more than 1 element</a:t>
            </a:r>
          </a:p>
          <a:p>
            <a:pPr marL="457088" lvl="1" indent="0">
              <a:buNone/>
            </a:pPr>
            <a:r>
              <a:rPr lang="en-CA" dirty="0"/>
              <a:t>(Hint: the syntax you use is </a:t>
            </a:r>
            <a:r>
              <a:rPr lang="en-CA" dirty="0" err="1"/>
              <a:t>my_number</a:t>
            </a:r>
            <a:r>
              <a:rPr lang="en-CA" dirty="0"/>
              <a:t> = [</a:t>
            </a:r>
            <a:r>
              <a:rPr lang="en-CA" dirty="0" err="1"/>
              <a:t>x,y,z</a:t>
            </a:r>
            <a:r>
              <a:rPr lang="en-CA" dirty="0"/>
              <a:t>])</a:t>
            </a:r>
          </a:p>
          <a:p>
            <a:pPr marL="457088" lvl="1" indent="0">
              <a:buNone/>
            </a:pPr>
            <a:endParaRPr lang="en-CA" dirty="0"/>
          </a:p>
          <a:p>
            <a:r>
              <a:rPr lang="en-CA" dirty="0"/>
              <a:t>Change the while statement to check for a new variable </a:t>
            </a:r>
            <a:r>
              <a:rPr lang="en-CA" dirty="0" err="1"/>
              <a:t>my_number</a:t>
            </a:r>
            <a:r>
              <a:rPr lang="en-CA" dirty="0"/>
              <a:t>[</a:t>
            </a:r>
            <a:r>
              <a:rPr lang="en-CA" dirty="0" err="1"/>
              <a:t>i</a:t>
            </a:r>
            <a:r>
              <a:rPr lang="en-CA" dirty="0"/>
              <a:t>]</a:t>
            </a:r>
          </a:p>
          <a:p>
            <a:endParaRPr lang="en-CA" dirty="0"/>
          </a:p>
          <a:p>
            <a:r>
              <a:rPr lang="en-CA" dirty="0"/>
              <a:t>Using an if else statement, change the index </a:t>
            </a:r>
            <a:r>
              <a:rPr lang="en-CA" dirty="0" err="1"/>
              <a:t>i</a:t>
            </a:r>
            <a:r>
              <a:rPr lang="en-CA" dirty="0"/>
              <a:t> at each iteration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D21E369-5ABC-003F-9F5A-9EB1695EB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590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7873-C5D8-C16B-6AFF-FB41F087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Solution</a:t>
            </a:r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0C298FE-F014-5428-1480-6A999FB90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94" y="1690688"/>
            <a:ext cx="6877602" cy="5028163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03C9B4CE-9E7F-8E2D-3BDB-9F76AA6D0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827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In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8058150" cy="4351335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Practice structured thinking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Become familiar with programming logic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Learn about basic programming components 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CA" sz="1800" dirty="0">
              <a:effectLst/>
              <a:latin typeface="Helvetica" pitchFamily="2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effectLst/>
                <a:latin typeface="Helvetica" pitchFamily="2" charset="0"/>
                <a:ea typeface="Arial" panose="020B0604020202020204" pitchFamily="34" charset="0"/>
              </a:rPr>
              <a:t>Learn a specific programming language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Perform data analysis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Learn about machine learning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Write programs that generate visualizations </a:t>
            </a: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0D7A11B-42AB-091D-5FF5-4F8EC7F8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057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CC9A-AFA1-B443-FFD6-9D4A0DD4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Feedback is appreciated!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A2E503-430B-22E5-D2C4-62390C64E4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0286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15390</TotalTime>
  <Words>3145</Words>
  <Application>Microsoft Macintosh PowerPoint</Application>
  <PresentationFormat>On-screen Show (4:3)</PresentationFormat>
  <Paragraphs>619</Paragraphs>
  <Slides>91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00" baseType="lpstr">
      <vt:lpstr>Arial</vt:lpstr>
      <vt:lpstr>Calibri</vt:lpstr>
      <vt:lpstr>Calibri Light</vt:lpstr>
      <vt:lpstr>Helvetica</vt:lpstr>
      <vt:lpstr>Helvetica Light</vt:lpstr>
      <vt:lpstr>Menlo</vt:lpstr>
      <vt:lpstr>Open Sans Light</vt:lpstr>
      <vt:lpstr>Wingdings</vt:lpstr>
      <vt:lpstr>Thème Office</vt:lpstr>
      <vt:lpstr>How to Think in Code</vt:lpstr>
      <vt:lpstr>PowerPoint Presentation</vt:lpstr>
      <vt:lpstr>PowerPoint Presentation</vt:lpstr>
      <vt:lpstr>What to expect today</vt:lpstr>
      <vt:lpstr>Contents</vt:lpstr>
      <vt:lpstr>Part 1 What is a computer and what are programs?</vt:lpstr>
      <vt:lpstr>What is a computer? </vt:lpstr>
      <vt:lpstr>PowerPoint Presentation</vt:lpstr>
      <vt:lpstr>What is a computer program? </vt:lpstr>
      <vt:lpstr>What is a computer program? </vt:lpstr>
      <vt:lpstr>Sequence of instructions</vt:lpstr>
      <vt:lpstr>Sequence of instructions</vt:lpstr>
      <vt:lpstr>Pseudo-code</vt:lpstr>
      <vt:lpstr>Repeating instructions</vt:lpstr>
      <vt:lpstr>Algorithms </vt:lpstr>
      <vt:lpstr>Algorithms </vt:lpstr>
      <vt:lpstr>Hands-on 1: Exploring a coding environment!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 Coding fundamentals and Hands-on testing</vt:lpstr>
      <vt:lpstr>Variables</vt:lpstr>
      <vt:lpstr>Data types</vt:lpstr>
      <vt:lpstr>PowerPoint Presentation</vt:lpstr>
      <vt:lpstr>PowerPoint Presentation</vt:lpstr>
      <vt:lpstr>PowerPoint Presentation</vt:lpstr>
      <vt:lpstr>PowerPoint Presentation</vt:lpstr>
      <vt:lpstr>Data types</vt:lpstr>
      <vt:lpstr>Boolean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Conditionals</vt:lpstr>
      <vt:lpstr>Conditionals</vt:lpstr>
      <vt:lpstr>Pseudocode Example:</vt:lpstr>
      <vt:lpstr>Pseudocode Example:</vt:lpstr>
      <vt:lpstr>Pseudocode Example:</vt:lpstr>
      <vt:lpstr>Pseudocode Example:</vt:lpstr>
      <vt:lpstr>Pseudocode Example:</vt:lpstr>
      <vt:lpstr>Else If (Sometimes called Elif)</vt:lpstr>
      <vt:lpstr>Else If (Sometimes called Elif)</vt:lpstr>
      <vt:lpstr>Else If (Sometimes called Elif)</vt:lpstr>
      <vt:lpstr>Else If (Sometimes called Elif)</vt:lpstr>
      <vt:lpstr>Else If (Sometimes called Elif)</vt:lpstr>
      <vt:lpstr>How does order matter?</vt:lpstr>
      <vt:lpstr>Else If (Sometimes called Elif)</vt:lpstr>
      <vt:lpstr>What is a catch statement?</vt:lpstr>
      <vt:lpstr>What is a catch statement?</vt:lpstr>
      <vt:lpstr>What is a catch statement?</vt:lpstr>
      <vt:lpstr>Conditional with a loop</vt:lpstr>
      <vt:lpstr>While loops…</vt:lpstr>
      <vt:lpstr>… can create infinite conditions</vt:lpstr>
      <vt:lpstr>… can create infinite conditions</vt:lpstr>
      <vt:lpstr>Part 3 Functions and  Data Structures</vt:lpstr>
      <vt:lpstr>PowerPoint Presentation</vt:lpstr>
      <vt:lpstr>PowerPoint Presentation</vt:lpstr>
      <vt:lpstr>PowerPoint Presentation</vt:lpstr>
      <vt:lpstr>PowerPoint Presentation</vt:lpstr>
      <vt:lpstr>Functions!</vt:lpstr>
      <vt:lpstr>We’re going to try it now!</vt:lpstr>
      <vt:lpstr>Commenting</vt:lpstr>
      <vt:lpstr>PowerPoint Presentation</vt:lpstr>
      <vt:lpstr>Hands On!</vt:lpstr>
      <vt:lpstr>Data structures</vt:lpstr>
      <vt:lpstr>Lists</vt:lpstr>
      <vt:lpstr>Lists</vt:lpstr>
      <vt:lpstr>Lists</vt:lpstr>
      <vt:lpstr>Arrays/Vectors</vt:lpstr>
      <vt:lpstr>Arrays/Vectors</vt:lpstr>
      <vt:lpstr>Arrays/Vectors</vt:lpstr>
      <vt:lpstr>Arrays/Vectors</vt:lpstr>
      <vt:lpstr>Indexing</vt:lpstr>
      <vt:lpstr>Indexing</vt:lpstr>
      <vt:lpstr>Final hands-on practice</vt:lpstr>
      <vt:lpstr>Solution</vt:lpstr>
      <vt:lpstr>In summary</vt:lpstr>
      <vt:lpstr>Feedback is appreciated!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Thomas Zheng</cp:lastModifiedBy>
  <cp:revision>69</cp:revision>
  <dcterms:created xsi:type="dcterms:W3CDTF">2019-07-29T14:54:16Z</dcterms:created>
  <dcterms:modified xsi:type="dcterms:W3CDTF">2026-05-24T20:46:28Z</dcterms:modified>
</cp:coreProperties>
</file>